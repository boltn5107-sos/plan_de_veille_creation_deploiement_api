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36815" y="-2560320"/>
            <a:ext cx="7863840" cy="7863840"/>
          </a:xfrm>
          <a:prstGeom prst="ellipse">
            <a:avLst/>
          </a:prstGeom>
          <a:solidFill>
            <a:srgbClr val="0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65615" y="3291840"/>
            <a:ext cx="4572000" cy="4572000"/>
          </a:xfrm>
          <a:prstGeom prst="ellipse">
            <a:avLst/>
          </a:prstGeom>
          <a:solidFill>
            <a:srgbClr val="0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234440"/>
            <a:ext cx="1554480" cy="6400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777240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FD9EE"/>
                </a:solidFill>
                <a:latin typeface="Segoe UI"/>
              </a:rPr>
              <a:t>VEILLE TECHNOLOGIQUE  ·  LIVRABLE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8046720" cy="17373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Introduction aux API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Segoe UI"/>
              </a:rPr>
              <a:t>et à l'architecture 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6583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D7E8F7"/>
                </a:solidFill>
                <a:latin typeface="Segoe UI"/>
              </a:rPr>
              <a:t>Avec FastAPI (Python)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D7E8F7"/>
                </a:solidFill>
                <a:latin typeface="Segoe UI"/>
              </a:rPr>
              <a:t>De la conception au déploiement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663440"/>
            <a:ext cx="5394960" cy="1051560"/>
          </a:xfrm>
          <a:prstGeom prst="roundRect">
            <a:avLst>
              <a:gd name="adj" fmla="val 6000"/>
            </a:avLst>
          </a:prstGeom>
          <a:solidFill>
            <a:srgbClr val="0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773168"/>
            <a:ext cx="502920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7F1FA"/>
                </a:solidFill>
                <a:latin typeface="Segoe UI"/>
              </a:rPr>
              <a:t>Groupe 1  ·  Module Création et déploiement d'API  ·  Octobre 2026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7F1FA"/>
                </a:solidFill>
                <a:latin typeface="Segoe UI"/>
              </a:rPr>
              <a:t>HTTP  ·  REST  ·  OpenAPI  ·  OAuth2/JWT  ·  Docker  ·  Coolify / Dokku / CapRover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72200"/>
            <a:ext cx="45720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C2DD"/>
                </a:solidFill>
                <a:latin typeface="Segoe UI"/>
              </a:rPr>
              <a:t>p1ia_groupe-1_creation-deploiement-api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MODE D'EMPLOI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Objectifs et livrables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410047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410047" cy="457200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09344"/>
            <a:ext cx="5080863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OBJECTIFS PÉDAGOGIQUES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148840"/>
            <a:ext cx="5007711" cy="34747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Segoe UI"/>
              </a:rPr>
              <a:t>•  </a:t>
            </a:r>
            <a:r>
              <a:rPr sz="1300" b="1">
                <a:solidFill>
                  <a:srgbClr val="0B3D6B"/>
                </a:solidFill>
                <a:latin typeface="Segoe UI"/>
              </a:rPr>
              <a:t>Comprendre </a:t>
            </a:r>
            <a:r>
              <a:rPr sz="1300">
                <a:solidFill>
                  <a:srgbClr val="1F2933"/>
                </a:solidFill>
                <a:latin typeface="Segoe UI"/>
              </a:rPr>
              <a:t>API, REST, HTTP et architectures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Segoe UI"/>
              </a:rPr>
              <a:t>•  </a:t>
            </a:r>
            <a:r>
              <a:rPr sz="1300" b="1">
                <a:solidFill>
                  <a:srgbClr val="0B3D6B"/>
                </a:solidFill>
                <a:latin typeface="Segoe UI"/>
              </a:rPr>
              <a:t>Concevoir </a:t>
            </a:r>
            <a:r>
              <a:rPr sz="1300">
                <a:solidFill>
                  <a:srgbClr val="1F2933"/>
                </a:solidFill>
                <a:latin typeface="Segoe UI"/>
              </a:rPr>
              <a:t>des endpoints cohérents et documentés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Segoe UI"/>
              </a:rPr>
              <a:t>•  </a:t>
            </a:r>
            <a:r>
              <a:rPr sz="1300" b="1">
                <a:solidFill>
                  <a:srgbClr val="0B3D6B"/>
                </a:solidFill>
                <a:latin typeface="Segoe UI"/>
              </a:rPr>
              <a:t>Développer </a:t>
            </a:r>
            <a:r>
              <a:rPr sz="1300">
                <a:solidFill>
                  <a:srgbClr val="1F2933"/>
                </a:solidFill>
                <a:latin typeface="Segoe UI"/>
              </a:rPr>
              <a:t>une API avec FastAPI et Pydantic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Segoe UI"/>
              </a:rPr>
              <a:t>•  </a:t>
            </a:r>
            <a:r>
              <a:rPr sz="1300" b="1">
                <a:solidFill>
                  <a:srgbClr val="0B3D6B"/>
                </a:solidFill>
                <a:latin typeface="Segoe UI"/>
              </a:rPr>
              <a:t>Sécuriser </a:t>
            </a:r>
            <a:r>
              <a:rPr sz="1300">
                <a:solidFill>
                  <a:srgbClr val="1F2933"/>
                </a:solidFill>
                <a:latin typeface="Segoe UI"/>
              </a:rPr>
              <a:t>avec OAuth2, JWT et les règles OWASP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Segoe UI"/>
              </a:rPr>
              <a:t>•  </a:t>
            </a:r>
            <a:r>
              <a:rPr sz="1300" b="1">
                <a:solidFill>
                  <a:srgbClr val="0B3D6B"/>
                </a:solidFill>
                <a:latin typeface="Segoe UI"/>
              </a:rPr>
              <a:t>Déployer </a:t>
            </a:r>
            <a:r>
              <a:rPr sz="1300">
                <a:solidFill>
                  <a:srgbClr val="1F2933"/>
                </a:solidFill>
                <a:latin typeface="Segoe UI"/>
              </a:rPr>
              <a:t>avec Docker et une plateforme open 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508760"/>
            <a:ext cx="5410047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1508760"/>
            <a:ext cx="5410047" cy="457200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609344"/>
            <a:ext cx="5080863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LIVRABLES DU GROUPE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4175" y="2148840"/>
            <a:ext cx="5007711" cy="34747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Segoe UI"/>
              </a:rPr>
              <a:t>•  </a:t>
            </a:r>
            <a:r>
              <a:rPr sz="1300" b="1">
                <a:solidFill>
                  <a:srgbClr val="0B3D6B"/>
                </a:solidFill>
                <a:latin typeface="Segoe UI"/>
              </a:rPr>
              <a:t>Document PDF </a:t>
            </a:r>
            <a:r>
              <a:rPr sz="1300">
                <a:solidFill>
                  <a:srgbClr val="1F2933"/>
                </a:solidFill>
                <a:latin typeface="Segoe UI"/>
              </a:rPr>
              <a:t>de synthèse détaillé (44 pages)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Segoe UI"/>
              </a:rPr>
              <a:t>•  </a:t>
            </a:r>
            <a:r>
              <a:rPr sz="1300" b="1">
                <a:solidFill>
                  <a:srgbClr val="0B3D6B"/>
                </a:solidFill>
                <a:latin typeface="Segoe UI"/>
              </a:rPr>
              <a:t>Diapositives </a:t>
            </a:r>
            <a:r>
              <a:rPr sz="1300">
                <a:solidFill>
                  <a:srgbClr val="1F2933"/>
                </a:solidFill>
                <a:latin typeface="Segoe UI"/>
              </a:rPr>
              <a:t>pourquoi / comment / exemple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Segoe UI"/>
              </a:rPr>
              <a:t>•  </a:t>
            </a:r>
            <a:r>
              <a:rPr sz="1300" b="1">
                <a:solidFill>
                  <a:srgbClr val="0B3D6B"/>
                </a:solidFill>
                <a:latin typeface="Segoe UI"/>
              </a:rPr>
              <a:t>4 cheatSheets </a:t>
            </a:r>
            <a:r>
              <a:rPr sz="1300">
                <a:solidFill>
                  <a:srgbClr val="1F2933"/>
                </a:solidFill>
                <a:latin typeface="Segoe UI"/>
              </a:rPr>
              <a:t>HTTP, REST, FastAPI, Auth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>
                <a:solidFill>
                  <a:srgbClr val="E67E22"/>
                </a:solidFill>
                <a:latin typeface="Segoe UI"/>
              </a:rPr>
              <a:t>•  </a:t>
            </a:r>
            <a:r>
              <a:rPr sz="1300" b="1">
                <a:solidFill>
                  <a:srgbClr val="0B3D6B"/>
                </a:solidFill>
                <a:latin typeface="Segoe UI"/>
              </a:rPr>
              <a:t>Exemple FastAPI </a:t>
            </a:r>
            <a:r>
              <a:rPr sz="1300">
                <a:solidFill>
                  <a:srgbClr val="1F2933"/>
                </a:solidFill>
                <a:latin typeface="Segoe UI"/>
              </a:rPr>
              <a:t>CRUD + Docker prêt à lancer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89320"/>
            <a:ext cx="11094415" cy="365760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053328"/>
            <a:ext cx="10728655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3D6B"/>
                </a:solidFill>
                <a:latin typeface="Segoe UI"/>
              </a:rPr>
              <a:t>Fil rouge : une API de gestion de tâches (/api/v1/tasks), sécurisée puis déployée.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Plan de la présentation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475488" cy="384048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55648"/>
            <a:ext cx="47548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737360"/>
            <a:ext cx="301752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Segoe UI"/>
              </a:rPr>
              <a:t>Introduction aux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95144"/>
            <a:ext cx="475488" cy="384048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59152"/>
            <a:ext cx="47548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340864"/>
            <a:ext cx="301752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Segoe UI"/>
              </a:rPr>
              <a:t>Classification des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98648"/>
            <a:ext cx="475488" cy="384048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62656"/>
            <a:ext cx="47548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III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2944368"/>
            <a:ext cx="301752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Segoe UI"/>
              </a:rPr>
              <a:t>Architectures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02152"/>
            <a:ext cx="475488" cy="384048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66160"/>
            <a:ext cx="47548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IV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547872"/>
            <a:ext cx="301752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Segoe UI"/>
              </a:rPr>
              <a:t>Fonctionnement d'une API Web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05656"/>
            <a:ext cx="475488" cy="384048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69664"/>
            <a:ext cx="47548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4151376"/>
            <a:ext cx="301752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Segoe UI"/>
              </a:rPr>
              <a:t>HTTP et méthodes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09160"/>
            <a:ext cx="475488" cy="384048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73168"/>
            <a:ext cx="47548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VI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4754880"/>
            <a:ext cx="301752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Segoe UI"/>
              </a:rPr>
              <a:t>Codes de statut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12664"/>
            <a:ext cx="475488" cy="384048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76672"/>
            <a:ext cx="47548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VII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5358384"/>
            <a:ext cx="301752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Segoe UI"/>
              </a:rPr>
              <a:t>Architecture REST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1691640"/>
            <a:ext cx="475488" cy="384048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1755648"/>
            <a:ext cx="47548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VIII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68112" y="1737360"/>
            <a:ext cx="301752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Segoe UI"/>
              </a:rPr>
              <a:t>Documentation OpenAPI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2295144"/>
            <a:ext cx="475488" cy="384048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2359152"/>
            <a:ext cx="47548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68112" y="2340864"/>
            <a:ext cx="301752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Segoe UI"/>
              </a:rPr>
              <a:t>FastAPI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0" y="2898648"/>
            <a:ext cx="475488" cy="384048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2962656"/>
            <a:ext cx="47548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68112" y="2944368"/>
            <a:ext cx="301752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Segoe UI"/>
              </a:rPr>
              <a:t>Synchrone / asynchrone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46320" y="3502152"/>
            <a:ext cx="475488" cy="384048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3566160"/>
            <a:ext cx="47548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XI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68112" y="3547872"/>
            <a:ext cx="301752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Segoe UI"/>
              </a:rPr>
              <a:t>Sécurité OAuth2 / JWT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0" y="4105656"/>
            <a:ext cx="475488" cy="384048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4169664"/>
            <a:ext cx="47548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XII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68112" y="4151376"/>
            <a:ext cx="301752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Segoe UI"/>
              </a:rPr>
              <a:t>Déploiement open source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846320" y="4709160"/>
            <a:ext cx="475488" cy="384048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4773168"/>
            <a:ext cx="475488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XIII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68112" y="4754880"/>
            <a:ext cx="301752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933"/>
                </a:solidFill>
                <a:latin typeface="Segoe UI"/>
              </a:rPr>
              <a:t>Références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989320"/>
            <a:ext cx="1072865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Chaque chapitre : définition → pourquoi → comment → exemple.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68335" y="-2011680"/>
            <a:ext cx="6583680" cy="6583680"/>
          </a:xfrm>
          <a:prstGeom prst="ellipse">
            <a:avLst/>
          </a:prstGeom>
          <a:solidFill>
            <a:srgbClr val="0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31375" y="3474720"/>
            <a:ext cx="3840480" cy="3840480"/>
          </a:xfrm>
          <a:prstGeom prst="ellipse">
            <a:avLst/>
          </a:prstGeom>
          <a:solidFill>
            <a:srgbClr val="0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82880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E67E22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713232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Introduction générale aux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3246120"/>
            <a:ext cx="1371600" cy="5029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474720"/>
            <a:ext cx="6583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7E8F7"/>
                </a:solidFill>
                <a:latin typeface="Segoe UI"/>
              </a:rPr>
              <a:t>Comprendre ce qu'est une API, à quoi elle sert et où elle intervient.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773168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672584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Définition et contrat d'interface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515721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56632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Rôle, domaines et écosystème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5541264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40680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Avantages, limites et vision produit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095" y="62179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C2DD"/>
                </a:solidFill>
                <a:latin typeface="Segoe UI"/>
              </a:rPr>
              <a:t>Plan de veille  ·  Groupe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I · DÉFINITION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Qu'est-ce qu'une API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POURQUOI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Deux logiciels doivent échanger des données sans se connaître. L'API est le contrat stable qui évite le couplage et permet à chaque côté d'évoluer.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8F7F2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993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138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623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COMMENT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452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Définir des endpoints, des formats (JSON), des erreurs et un mécanisme d'authentification. Documenter le contrat avec OpenAPI.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122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122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752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EXEMPLE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81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GET /api/v1/tasks/42 → 200 OK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{"id": 42, "title": "Réviser HTTP", "done": false}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Le client ignore la base de données et le code interne.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33872"/>
            <a:ext cx="11094415" cy="475488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16168"/>
            <a:ext cx="10728655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3D6B"/>
                </a:solidFill>
                <a:latin typeface="Segoe UI"/>
              </a:rPr>
              <a:t>À RETENIR  ·  Une API est un contrat d'interface, pas une implémentation.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I · RÔLE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Rôle et domaines d'utilisation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POURQUOI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Les API sont le système nerveux du numérique : elles connectent les applications, les équipes, les partenaires et les objets.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8F7F2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993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138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623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COMMENT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452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Exposer des services réutilisables, versionnés et surveillés. Chaque domaine a ses contraintes : latence, sécurité, volume, conformité.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122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122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752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EXEMPLE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81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Paiement : Stripe · Météo : OpenWeather · Identité : Google OAuth · Cloud : Kubernetes API · Santé : FHIR · IA : API de modèles.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33872"/>
            <a:ext cx="11094415" cy="475488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16168"/>
            <a:ext cx="10728655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3D6B"/>
                </a:solidFill>
                <a:latin typeface="Segoe UI"/>
              </a:rPr>
              <a:t>À RETENIR  ·  Une API est un produit avec des utilisateurs développeurs.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COMPARAISON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Avantages et limites des API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7"/>
              </a:tblGrid>
              <a:tr h="48593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Avantages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Limites / risques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</a:tr>
              <a:tr h="48593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6B"/>
                          </a:solidFill>
                          <a:latin typeface="Segoe UI"/>
                        </a:rPr>
                        <a:t>Standardisation et documentation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Segoe UI"/>
                        </a:rPr>
                        <a:t>Dépendance à un tiers et à son contrat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8593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6B"/>
                          </a:solidFill>
                          <a:latin typeface="Segoe UI"/>
                        </a:rPr>
                        <a:t>Découplage des équipes et technologies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Segoe UI"/>
                        </a:rPr>
                        <a:t>Gouvernance et versioning complexes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48593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6B"/>
                          </a:solidFill>
                          <a:latin typeface="Segoe UI"/>
                        </a:rPr>
                        <a:t>Réutilisation et gain de temps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Segoe UI"/>
                        </a:rPr>
                        <a:t>Surface d'attaque à sécuriser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8593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6B"/>
                          </a:solidFill>
                          <a:latin typeface="Segoe UI"/>
                        </a:rPr>
                        <a:t>Scalabilité horizontale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Segoe UI"/>
                        </a:rPr>
                        <a:t>Latence réseau et sérialisation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48593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6B"/>
                          </a:solidFill>
                          <a:latin typeface="Segoe UI"/>
                        </a:rPr>
                        <a:t>Écosystème, intégrations, revenus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Segoe UI"/>
                        </a:rPr>
                        <a:t>Quotas, coûts variables, rate limiting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859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3D6B"/>
                          </a:solidFill>
                          <a:latin typeface="Segoe UI"/>
                        </a:rPr>
                        <a:t>Observabilité et automatisation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3"/>
                          </a:solidFill>
                          <a:latin typeface="Segoe UI"/>
                        </a:rPr>
                        <a:t>Besoin de logs, métriques, traces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Une API réussie est un produit : contrat, documentation, support, SLA, cycle de vie.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68335" y="-2011680"/>
            <a:ext cx="6583680" cy="6583680"/>
          </a:xfrm>
          <a:prstGeom prst="ellipse">
            <a:avLst/>
          </a:prstGeom>
          <a:solidFill>
            <a:srgbClr val="0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31375" y="3474720"/>
            <a:ext cx="3840480" cy="3840480"/>
          </a:xfrm>
          <a:prstGeom prst="ellipse">
            <a:avLst/>
          </a:prstGeom>
          <a:solidFill>
            <a:srgbClr val="0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82880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E67E22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713232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Classification des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3246120"/>
            <a:ext cx="1371600" cy="5029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474720"/>
            <a:ext cx="6583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7E8F7"/>
                </a:solidFill>
                <a:latin typeface="Segoe UI"/>
              </a:rPr>
              <a:t>Styles techniques, politiques de publication et critères de choix.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773168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672584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REST, SOAP, GraphQL, gRPC, WebSocket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515721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56632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Privée, partenaire, publique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5541264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40680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Choisir selon le besoin, pas la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095" y="62179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C2DD"/>
                </a:solidFill>
                <a:latin typeface="Segoe UI"/>
              </a:rPr>
              <a:t>Plan de veille  ·  Groupe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COMPARAISON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Les styles et technologies d'API Web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106"/>
                <a:gridCol w="2662659"/>
                <a:gridCol w="3550212"/>
                <a:gridCol w="3106436"/>
              </a:tblGrid>
              <a:tr h="48593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Style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Transport / format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Points forts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Cas d'usage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</a:tr>
              <a:tr h="48593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REST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HTTP / JSON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Simple, cache, outillage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API publiques, CRUD, mobile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8593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SOAP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HTTP / XML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Contrats, sécurité, transactions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Banque, SI d'entreprise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48593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GraphQL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HTTP / JSON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Requêtes précises, schéma typé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Frontends, agrégation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8593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gRPC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HTTP/2 / Protobuf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Rapide, compact, streaming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Microservices internes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48593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WebSocket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TCP / texte ou binaire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Temps réel bidirectionnel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Chat, jeux, trading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859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Webhooks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HTTP / JSON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Événementiel, découplé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Paiement, CI/CD, SaaS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Le choix dépend du besoin : simplicité, temps réel, performance, contraintes navigateur.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II · CHOIX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REST vs GraphQL vs gRPC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POURQUOI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REST excelle pour le CRUD et le cache ; GraphQL pour éviter le sur-fetch ; gRPC pour la performance et le streaming interne.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8F7F2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993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138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623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COMMENT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452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REST : ressources + verbes HTTP. GraphQL : schéma + resolvers. gRPC : fichier .proto + génération de stubs.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122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122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752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EXEMPLE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81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REST : GET /tasks/42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GraphQL : { task(id: 42) { title done }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gRPC : rpc GetTask(TaskRequest) returns (TaskResponse)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33872"/>
            <a:ext cx="11094415" cy="475488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16168"/>
            <a:ext cx="10728655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3D6B"/>
                </a:solidFill>
                <a:latin typeface="Segoe UI"/>
              </a:rPr>
              <a:t>À RETENIR  ·  Choisir le style selon le besoin réel et l'écosystème.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Politiques de publication et critères de choix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10047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10047" cy="457200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63624"/>
            <a:ext cx="5080863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POLITIQUES DE PUBLICATION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44287" cy="3703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Privée : </a:t>
            </a:r>
            <a:r>
              <a:rPr sz="1250">
                <a:solidFill>
                  <a:srgbClr val="1F2933"/>
                </a:solidFill>
                <a:latin typeface="Segoe UI"/>
              </a:rPr>
              <a:t>équipes internes, découplage et réutilisation.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Partenaire : </a:t>
            </a:r>
            <a:r>
              <a:rPr sz="1250">
                <a:solidFill>
                  <a:srgbClr val="1F2933"/>
                </a:solidFill>
                <a:latin typeface="Segoe UI"/>
              </a:rPr>
              <a:t>intégrations B2B contractuelles.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Publique : </a:t>
            </a:r>
            <a:r>
              <a:rPr sz="1250">
                <a:solidFill>
                  <a:srgbClr val="1F2933"/>
                </a:solidFill>
                <a:latin typeface="Segoe UI"/>
              </a:rPr>
              <a:t>écosystème, notoriété, revenus.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API produit : </a:t>
            </a:r>
            <a:r>
              <a:rPr sz="1250">
                <a:solidFill>
                  <a:srgbClr val="1F2933"/>
                </a:solidFill>
                <a:latin typeface="Segoe UI"/>
              </a:rPr>
              <a:t>self-service, monétisation, quotas.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463040"/>
            <a:ext cx="5410047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1463040"/>
            <a:ext cx="5410047" cy="457200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563624"/>
            <a:ext cx="5080863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CRITÈRES DE DÉCISION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2103120"/>
            <a:ext cx="5044287" cy="3703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Besoin : </a:t>
            </a:r>
            <a:r>
              <a:rPr sz="1250">
                <a:solidFill>
                  <a:srgbClr val="1F2933"/>
                </a:solidFill>
                <a:latin typeface="Segoe UI"/>
              </a:rPr>
              <a:t>CRUD, temps réel, streaming, événements.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Sécurité : </a:t>
            </a:r>
            <a:r>
              <a:rPr sz="1250">
                <a:solidFill>
                  <a:srgbClr val="1F2933"/>
                </a:solidFill>
                <a:latin typeface="Segoe UI"/>
              </a:rPr>
              <a:t>authn/authz, conformité, audit.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Performance : </a:t>
            </a:r>
            <a:r>
              <a:rPr sz="1250">
                <a:solidFill>
                  <a:srgbClr val="1F2933"/>
                </a:solidFill>
                <a:latin typeface="Segoe UI"/>
              </a:rPr>
              <a:t>latence, volume, cache, compression.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Écosystème : </a:t>
            </a:r>
            <a:r>
              <a:rPr sz="1250">
                <a:solidFill>
                  <a:srgbClr val="1F2933"/>
                </a:solidFill>
                <a:latin typeface="Segoe UI"/>
              </a:rPr>
              <a:t>outils, SDK, compétences, coût.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Évolutivité : </a:t>
            </a:r>
            <a:r>
              <a:rPr sz="1250">
                <a:solidFill>
                  <a:srgbClr val="1F2933"/>
                </a:solidFill>
                <a:latin typeface="Segoe UI"/>
              </a:rPr>
              <a:t>versioning, compatibilité, gouvernance.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Commencer par le besoin métier, puis éliminer les options incompatibles avec les contraintes dures.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68335" y="-2011680"/>
            <a:ext cx="6583680" cy="6583680"/>
          </a:xfrm>
          <a:prstGeom prst="ellipse">
            <a:avLst/>
          </a:prstGeom>
          <a:solidFill>
            <a:srgbClr val="0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31375" y="3474720"/>
            <a:ext cx="3840480" cy="3840480"/>
          </a:xfrm>
          <a:prstGeom prst="ellipse">
            <a:avLst/>
          </a:prstGeom>
          <a:solidFill>
            <a:srgbClr val="0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82880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E67E22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713232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Architecture des applications et des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3246120"/>
            <a:ext cx="1371600" cy="5029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474720"/>
            <a:ext cx="6583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7E8F7"/>
                </a:solidFill>
                <a:latin typeface="Segoe UI"/>
              </a:rPr>
              <a:t>Du monolithe aux microservices : comprendre les compromis.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773168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672584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Client-serveur et séparation des responsabilités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515721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56632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Monolithe, SOA, microservices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5541264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40680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Comparaison et critères de décision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095" y="62179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C2DD"/>
                </a:solidFill>
                <a:latin typeface="Segoe UI"/>
              </a:rPr>
              <a:t>Plan de veille  ·  Groupe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III · CLIENT-SERVEUR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Architecture client-serveur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POURQUOI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Séparer la présentation (client) du traitement et du stockage (serveur) permet des clients multiples et des évolutions indépendantes.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8F7F2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993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138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623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COMMENT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452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Définir un contrat HTTP, garder le serveur sans état, prévoir cache, timeouts, authentification et gestion d'erreurs.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122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122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752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EXEMPLE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81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Un front React, une application mobile et un script CLI consomment la même API FastAPI.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Client → Requête HTTP → Serveur → Réponse JSON.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33872"/>
            <a:ext cx="11094415" cy="475488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16168"/>
            <a:ext cx="10728655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3D6B"/>
                </a:solidFill>
                <a:latin typeface="Segoe UI"/>
              </a:rPr>
              <a:t>À RETENIR  ·  Le contrat d'API est le point de stabilité entre les deux côtés.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III · MONOLITHE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Architecture monolithique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POURQUOI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Simple à développer, tester et déployer, avec des transactions ACID locales : idéal pour un MVP ou un domaine encore mal compris.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8F7F2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993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138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623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COMMENT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452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Un seul artefact déployable, des modules bien séparés, des tests et une CI solides. Préférer le monolithe modulaire.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122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122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752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EXEMPLE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81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Une application FastAPI unique : authentification + tâches + export PDF + base de données.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Déploiement : une image Docker.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33872"/>
            <a:ext cx="11094415" cy="475488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16168"/>
            <a:ext cx="10728655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3D6B"/>
                </a:solidFill>
                <a:latin typeface="Segoe UI"/>
              </a:rPr>
              <a:t>À RETENIR  ·  Commencer simple ; extraire des services seulement si nécessaire.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III · SOA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Architecture orientée services (SOA)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POURQUOI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Réutiliser des services métier et intégrer des systèmes hétérogènes à l'échelle de l'entreprise.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8F7F2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993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138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623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COMMENT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452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Des services autonomes exposent des contrats (souvent WSDL) et sont orchestrés via un ESB et une gouvernance centrale.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122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122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752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EXEMPLE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81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SI bancaire : services Client, Compte, Paiement reliés par un bus d'intégration.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Avantage : réutilisation. Limite : ESB central et lourd.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33872"/>
            <a:ext cx="11094415" cy="475488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16168"/>
            <a:ext cx="10728655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3D6B"/>
                </a:solidFill>
                <a:latin typeface="Segoe UI"/>
              </a:rPr>
              <a:t>À RETENIR  ·  La SOA apporte la gouvernance, au prix de la centralisation.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III ·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Architecture microservices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POURQUOI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Déployer et scaler chaque domaine indépendamment, avec des équipes autonomes et des pannes isolées.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8F7F2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993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138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623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COMMENT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452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Découper par contextes métier (DDD), définir des contrats d'API, ajouter gateway, observabilité, résilience et sagas.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122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122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752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EXEMPLE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81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tasks-service + auth-service + notifications-service, chacun avec sa base et son pipeline CI/CD.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Attention : complexité distribuée.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33872"/>
            <a:ext cx="11094415" cy="475488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16168"/>
            <a:ext cx="10728655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3D6B"/>
                </a:solidFill>
                <a:latin typeface="Segoe UI"/>
              </a:rPr>
              <a:t>À RETENIR  ·  Les microservices résolvent d'abord des problèmes d'organisation et d'échelle.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COMPARAISON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Comparaison des architectures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895"/>
                <a:gridCol w="2560249"/>
                <a:gridCol w="2986957"/>
                <a:gridCol w="3200312"/>
              </a:tblGrid>
              <a:tr h="4480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Critère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Monolithe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SOA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Microservices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Déploiement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Unique et simple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Services + ESB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Indépendant par service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Scaling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Global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Par service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Granulaire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Couplage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Fort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Moyen (bus)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Faible (contrats)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Cohérence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ACID local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Transactions distribuées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Éventuelle (sagas)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Complexité ops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Faible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Élevée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Très élevée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Autonomie équipes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Faible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Moyenne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Forte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44805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Cas d'usage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MVP, PME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SI hétérogène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Grande échelle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Règle pragmatique : commencer par un monolithe modulaire, mesurer, puis extraire.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68335" y="-2011680"/>
            <a:ext cx="6583680" cy="6583680"/>
          </a:xfrm>
          <a:prstGeom prst="ellipse">
            <a:avLst/>
          </a:prstGeom>
          <a:solidFill>
            <a:srgbClr val="0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31375" y="3474720"/>
            <a:ext cx="3840480" cy="3840480"/>
          </a:xfrm>
          <a:prstGeom prst="ellipse">
            <a:avLst/>
          </a:prstGeom>
          <a:solidFill>
            <a:srgbClr val="0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82880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E67E22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713232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Fonctionnement d'une API Web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3246120"/>
            <a:ext cx="1371600" cy="5029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474720"/>
            <a:ext cx="6583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7E8F7"/>
                </a:solidFill>
                <a:latin typeface="Segoe UI"/>
              </a:rPr>
              <a:t>Le trajet d'une requête, de l'URL à la réponse JSON.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773168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672584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DNS, TCP, TLS, HTTP et intermédiaires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515721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56632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Structure d'une requête et d'une réponse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5541264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40680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JSON, XML et négociation de contenu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095" y="62179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C2DD"/>
                </a:solidFill>
                <a:latin typeface="Segoe UI"/>
              </a:rPr>
              <a:t>Plan de veille  ·  Groupe 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IV ·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Le cycle d'appel d'une API</a:t>
            </a:r>
          </a:p>
        </p:txBody>
      </p:sp>
      <p:sp>
        <p:nvSpPr>
          <p:cNvPr id="5" name="Oval 4"/>
          <p:cNvSpPr/>
          <p:nvPr/>
        </p:nvSpPr>
        <p:spPr>
          <a:xfrm>
            <a:off x="1115568" y="1600200"/>
            <a:ext cx="566928" cy="566928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00784"/>
            <a:ext cx="566928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32304"/>
            <a:ext cx="1554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3D6B"/>
                </a:solidFill>
                <a:latin typeface="Segoe UI"/>
              </a:rPr>
              <a:t>DNS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554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B6B7B"/>
                </a:solidFill>
                <a:latin typeface="Segoe UI"/>
              </a:rPr>
              <a:t>nom → 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2606040"/>
            <a:ext cx="2286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67E22"/>
                </a:solidFill>
                <a:latin typeface="Segoe U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081528" y="1600200"/>
            <a:ext cx="566928" cy="566928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1700784"/>
            <a:ext cx="566928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233172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2432304"/>
            <a:ext cx="1554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3D6B"/>
                </a:solidFill>
                <a:latin typeface="Segoe UI"/>
              </a:rPr>
              <a:t>TCP + TLS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743200"/>
            <a:ext cx="1554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B6B7B"/>
                </a:solidFill>
                <a:latin typeface="Segoe UI"/>
              </a:rPr>
              <a:t>connexion sécurisée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2606040"/>
            <a:ext cx="2286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67E22"/>
                </a:solidFill>
                <a:latin typeface="Segoe U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5047488" y="1600200"/>
            <a:ext cx="566928" cy="56692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7488" y="1700784"/>
            <a:ext cx="566928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233172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2432304"/>
            <a:ext cx="1554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3D6B"/>
                </a:solidFill>
                <a:latin typeface="Segoe UI"/>
              </a:rPr>
              <a:t>Requête HTTP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999" y="2743200"/>
            <a:ext cx="1554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B6B7B"/>
                </a:solidFill>
                <a:latin typeface="Segoe UI"/>
              </a:rPr>
              <a:t>méthode, en-têtes, corps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2606040"/>
            <a:ext cx="2286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67E22"/>
                </a:solidFill>
                <a:latin typeface="Segoe UI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7013448" y="1600200"/>
            <a:ext cx="566928" cy="566928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13448" y="1700784"/>
            <a:ext cx="566928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233172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2432304"/>
            <a:ext cx="1554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3D6B"/>
                </a:solidFill>
                <a:latin typeface="Segoe UI"/>
              </a:rPr>
              <a:t>Gateway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2743200"/>
            <a:ext cx="1554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B6B7B"/>
                </a:solidFill>
                <a:latin typeface="Segoe UI"/>
              </a:rPr>
              <a:t>routage, auth, quotas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7" y="2606040"/>
            <a:ext cx="2286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67E22"/>
                </a:solidFill>
                <a:latin typeface="Segoe UI"/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8979407" y="1600200"/>
            <a:ext cx="566928" cy="566928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79407" y="1700784"/>
            <a:ext cx="566928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233172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19" y="2432304"/>
            <a:ext cx="1554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3D6B"/>
                </a:solidFill>
                <a:latin typeface="Segoe UI"/>
              </a:rPr>
              <a:t>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19" y="2743200"/>
            <a:ext cx="1554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B6B7B"/>
                </a:solidFill>
                <a:latin typeface="Segoe UI"/>
              </a:rPr>
              <a:t>validation, métier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68128" y="2606040"/>
            <a:ext cx="2286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67E22"/>
                </a:solidFill>
                <a:latin typeface="Segoe UI"/>
              </a:rPr>
              <a:t>→</a:t>
            </a:r>
          </a:p>
        </p:txBody>
      </p:sp>
      <p:sp>
        <p:nvSpPr>
          <p:cNvPr id="35" name="Oval 34"/>
          <p:cNvSpPr/>
          <p:nvPr/>
        </p:nvSpPr>
        <p:spPr>
          <a:xfrm>
            <a:off x="10945367" y="1600200"/>
            <a:ext cx="566928" cy="56692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45367" y="1700784"/>
            <a:ext cx="566928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78440" y="233172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69880" y="2432304"/>
            <a:ext cx="1554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3D6B"/>
                </a:solidFill>
                <a:latin typeface="Segoe UI"/>
              </a:rPr>
              <a:t>Données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2743200"/>
            <a:ext cx="15544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5B6B7B"/>
                </a:solidFill>
                <a:latin typeface="Segoe UI"/>
              </a:rPr>
              <a:t>base, cache, services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611880"/>
            <a:ext cx="11094415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8D75"/>
                </a:solidFill>
                <a:latin typeface="Segoe UI"/>
              </a:rPr>
              <a:t>→  Réponse HTTP : code de statut, en-têtes, corps JSON, cache éventuel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160520"/>
            <a:ext cx="5212080" cy="17373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150" b="1">
                <a:solidFill>
                  <a:srgbClr val="0B3D6B"/>
                </a:solidFill>
                <a:latin typeface="Segoe UI"/>
              </a:rPr>
              <a:t>DNS : </a:t>
            </a:r>
            <a:r>
              <a:rPr sz="1150">
                <a:solidFill>
                  <a:srgbClr val="1F2933"/>
                </a:solidFill>
                <a:latin typeface="Segoe UI"/>
              </a:rPr>
              <a:t>résolution du nom de domaine en adresse IP.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150" b="1">
                <a:solidFill>
                  <a:srgbClr val="0B3D6B"/>
                </a:solidFill>
                <a:latin typeface="Segoe UI"/>
              </a:rPr>
              <a:t>TLS : </a:t>
            </a:r>
            <a:r>
              <a:rPr sz="1150">
                <a:solidFill>
                  <a:srgbClr val="1F2933"/>
                </a:solidFill>
                <a:latin typeface="Segoe UI"/>
              </a:rPr>
              <a:t>chiffrement et authentification du serveur.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150" b="1">
                <a:solidFill>
                  <a:srgbClr val="0B3D6B"/>
                </a:solidFill>
                <a:latin typeface="Segoe UI"/>
              </a:rPr>
              <a:t>Intermédiaires : </a:t>
            </a:r>
            <a:r>
              <a:rPr sz="1150">
                <a:solidFill>
                  <a:srgbClr val="1F2933"/>
                </a:solidFill>
                <a:latin typeface="Segoe UI"/>
              </a:rPr>
              <a:t>proxy, gateway, load balancer, CDN.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4160520"/>
            <a:ext cx="5394960" cy="17373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150" b="1">
                <a:solidFill>
                  <a:srgbClr val="0B3D6B"/>
                </a:solidFill>
                <a:latin typeface="Segoe UI"/>
              </a:rPr>
              <a:t>Sans état : </a:t>
            </a:r>
            <a:r>
              <a:rPr sz="1150">
                <a:solidFill>
                  <a:srgbClr val="1F2933"/>
                </a:solidFill>
                <a:latin typeface="Segoe UI"/>
              </a:rPr>
              <a:t>chaque requête contient son contexte (token).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150" b="1">
                <a:solidFill>
                  <a:srgbClr val="0B3D6B"/>
                </a:solidFill>
                <a:latin typeface="Segoe UI"/>
              </a:rPr>
              <a:t>Traitement : </a:t>
            </a:r>
            <a:r>
              <a:rPr sz="1150">
                <a:solidFill>
                  <a:srgbClr val="1F2933"/>
                </a:solidFill>
                <a:latin typeface="Segoe UI"/>
              </a:rPr>
              <a:t>validation, autorisation, métier, données.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150" b="1">
                <a:solidFill>
                  <a:srgbClr val="0B3D6B"/>
                </a:solidFill>
                <a:latin typeface="Segoe UI"/>
              </a:rPr>
              <a:t>Retour : </a:t>
            </a:r>
            <a:r>
              <a:rPr sz="1150">
                <a:solidFill>
                  <a:srgbClr val="1F2933"/>
                </a:solidFill>
                <a:latin typeface="Segoe UI"/>
              </a:rPr>
              <a:t>sérialisation JSON et en-têtes de cache.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IV · REQUÊTE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Anatomie d'une requête HTTP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44348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554480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554480"/>
            <a:ext cx="100584" cy="100584"/>
          </a:xfrm>
          <a:prstGeom prst="ellipse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1554480"/>
            <a:ext cx="100584" cy="100584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55648"/>
            <a:ext cx="10801807" cy="3995927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POST /api/v1/tasks HTTP/1.1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Host: api.exemple.com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Content-Type: application/json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Accept: application/json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Authorization: Bearer eyJhbGciOiJIUzI1NiIs...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Idempotency-Key: 6f1c2a9e-...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{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  "title": "Réviser HTTP",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  "due_date": "2026-11-05",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  "priority": "high"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Ligne de requête  ·  en-têtes  ·  corps optionnel. Le corps n'a de sens qu'avec un Content-Type.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IV · RÉPONSE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Anatomie d'une réponse HTTP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44348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554480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554480"/>
            <a:ext cx="100584" cy="100584"/>
          </a:xfrm>
          <a:prstGeom prst="ellipse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1554480"/>
            <a:ext cx="100584" cy="100584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55648"/>
            <a:ext cx="10801807" cy="3995927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HTTP/1.1 201 Created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Content-Type: application/json; charset=utf-8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Location: /api/v1/tasks/43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Cache-Control: no-store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X-Request-Id: 9b2f7c1e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{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  "id": 43,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  "title": "Réviser HTTP",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  "done": false,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  "created_at": "2026-10-27T09:30:00Z"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Code de statut  ·  en-têtes (type, cache, location, corrélation)  ·  corps JSON.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Formats d'échange de données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10047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10047" cy="457200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63624"/>
            <a:ext cx="5080863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JSON · LE STANDARD 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44287" cy="3703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Léger et lisible : </a:t>
            </a:r>
            <a:r>
              <a:rPr sz="1250">
                <a:solidFill>
                  <a:srgbClr val="1F2933"/>
                </a:solidFill>
                <a:latin typeface="Segoe UI"/>
              </a:rPr>
              <a:t>natif en JavaScript, facile à déboguer.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Types : </a:t>
            </a:r>
            <a:r>
              <a:rPr sz="1250">
                <a:solidFill>
                  <a:srgbClr val="1F2933"/>
                </a:solidFill>
                <a:latin typeface="Segoe UI"/>
              </a:rPr>
              <a:t>objet, tableau, chaîne, nombre, booléen, null.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Bonnes pratiques : </a:t>
            </a:r>
            <a:r>
              <a:rPr sz="1250">
                <a:solidFill>
                  <a:srgbClr val="1F2933"/>
                </a:solidFill>
                <a:latin typeface="Segoe UI"/>
              </a:rPr>
              <a:t>dates ISO 8601, pas de flottants pour l'argent.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Content-Type : </a:t>
            </a:r>
            <a:r>
              <a:rPr sz="1250">
                <a:solidFill>
                  <a:srgbClr val="1F2933"/>
                </a:solidFill>
                <a:latin typeface="Segoe UI"/>
              </a:rPr>
              <a:t>application/json.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463040"/>
            <a:ext cx="5410047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1463040"/>
            <a:ext cx="5410047" cy="457200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563624"/>
            <a:ext cx="5080863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XML ET AUTRES FORMATS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2103120"/>
            <a:ext cx="5044287" cy="3703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XML : </a:t>
            </a:r>
            <a:r>
              <a:rPr sz="1250">
                <a:solidFill>
                  <a:srgbClr val="1F2933"/>
                </a:solidFill>
                <a:latin typeface="Segoe UI"/>
              </a:rPr>
              <a:t>verbeux, schémas XSD, utilisé par SOAP.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Formulaires : </a:t>
            </a:r>
            <a:r>
              <a:rPr sz="1250">
                <a:solidFill>
                  <a:srgbClr val="1F2933"/>
                </a:solidFill>
                <a:latin typeface="Segoe UI"/>
              </a:rPr>
              <a:t>x-www-form-urlencoded, multipart/form-data.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Binaire : </a:t>
            </a:r>
            <a:r>
              <a:rPr sz="1250">
                <a:solidFill>
                  <a:srgbClr val="1F2933"/>
                </a:solidFill>
                <a:latin typeface="Segoe UI"/>
              </a:rPr>
              <a:t>octet-stream, Protobuf (gRPC), Parquet.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Négociation : </a:t>
            </a:r>
            <a:r>
              <a:rPr sz="1250">
                <a:solidFill>
                  <a:srgbClr val="1F2933"/>
                </a:solidFill>
                <a:latin typeface="Segoe UI"/>
              </a:rPr>
              <a:t>Accept / Content-Type ; 406 si non supporté.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Choisir un format adapté au besoin, puis le documenter et le valider.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68335" y="-2011680"/>
            <a:ext cx="6583680" cy="6583680"/>
          </a:xfrm>
          <a:prstGeom prst="ellipse">
            <a:avLst/>
          </a:prstGeom>
          <a:solidFill>
            <a:srgbClr val="0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31375" y="3474720"/>
            <a:ext cx="3840480" cy="3840480"/>
          </a:xfrm>
          <a:prstGeom prst="ellipse">
            <a:avLst/>
          </a:prstGeom>
          <a:solidFill>
            <a:srgbClr val="0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82880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E67E22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713232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Protocole HTTP et méthodes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3246120"/>
            <a:ext cx="1371600" cy="5029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474720"/>
            <a:ext cx="6583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7E8F7"/>
                </a:solidFill>
                <a:latin typeface="Segoe UI"/>
              </a:rPr>
              <a:t>Le socle sémantique des API REST.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773168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672584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HTTP/1.1, HTTP/2, HTTP/3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515721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56632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GET, POST, PUT, PATCH, DELETE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5541264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40680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Sûreté, idempotence et mapping CRUD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095" y="62179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C2DD"/>
                </a:solidFill>
                <a:latin typeface="Segoe UI"/>
              </a:rPr>
              <a:t>Plan de veille  ·  Groupe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COMPARAISON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HTTP en bref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457"/>
                <a:gridCol w="2521457"/>
                <a:gridCol w="6051499"/>
              </a:tblGrid>
              <a:tr h="479145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Version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Transport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Apports principaux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</a:tr>
              <a:tr h="47914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6B"/>
                          </a:solidFill>
                          <a:latin typeface="Segoe UI"/>
                        </a:rPr>
                        <a:t>HTTP/1.0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TCP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Une connexion par requête, en-têtes simples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7914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6B"/>
                          </a:solidFill>
                          <a:latin typeface="Segoe UI"/>
                        </a:rPr>
                        <a:t>HTTP/1.1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TCP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Connexions persistantes, cache, Host obligatoire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479145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6B"/>
                          </a:solidFill>
                          <a:latin typeface="Segoe UI"/>
                        </a:rPr>
                        <a:t>HTTP/2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TCP + TLS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Multiplexage, compression HPACK, binaire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791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6B"/>
                          </a:solidFill>
                          <a:latin typeface="Segoe UI"/>
                        </a:rPr>
                        <a:t>HTTP/3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QUIC / UDP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Latence réduite, reprise rapide, résilience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HTTP est sans état : le contexte (token, paramètres) doit être transmis à chaque requête.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COMPARAISON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Les méthodes HTTP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4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264"/>
                <a:gridCol w="3251811"/>
                <a:gridCol w="1147698"/>
                <a:gridCol w="1912830"/>
                <a:gridCol w="3251811"/>
              </a:tblGrid>
              <a:tr h="46405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Méthode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Rôle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Sûre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Idempotente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Exemple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</a:tr>
              <a:tr h="464058"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0B3D6B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Lire une ressource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Oui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Oui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GET /tasks?done=false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64058"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0B3D6B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Créer / déclencher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Non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Non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POST /tasks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464058"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0B3D6B"/>
                          </a:solidFill>
                          <a:latin typeface="Segoe UI"/>
                        </a:rPr>
                        <a:t>PUT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Remplacer intégralement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Non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Oui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PUT /tasks/42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64058"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0B3D6B"/>
                          </a:solidFill>
                          <a:latin typeface="Segoe UI"/>
                        </a:rPr>
                        <a:t>PATCH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Modifier partiellement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Non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Pas toujours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PATCH /tasks/42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464058"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0B3D6B"/>
                          </a:solidFill>
                          <a:latin typeface="Segoe UI"/>
                        </a:rPr>
                        <a:t>DELETE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Supprimer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Non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Oui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DELETE /tasks/42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64058"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0B3D6B"/>
                          </a:solidFill>
                          <a:latin typeface="Segoe UI"/>
                        </a:rPr>
                        <a:t>HEAD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GET sans corps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Oui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Oui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HEAD /tasks/42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464058">
                <a:tc>
                  <a:txBody>
                    <a:bodyPr wrap="square"/>
                    <a:lstStyle/>
                    <a:p>
                      <a:r>
                        <a:rPr sz="1080" b="1">
                          <a:solidFill>
                            <a:srgbClr val="0B3D6B"/>
                          </a:solidFill>
                          <a:latin typeface="Segoe UI"/>
                        </a:rPr>
                        <a:t>OPTIONS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Découvrir / CORS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Oui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Oui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>
                          <a:solidFill>
                            <a:srgbClr val="1F2933"/>
                          </a:solidFill>
                          <a:latin typeface="Segoe UI"/>
                        </a:rPr>
                        <a:t>OPTIONS /tasks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Le mapping CRUD : GET = SELECT, POST = INSERT, PUT/PATCH = UPDATE, DELETE = DELETE.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V · IDEMPOTENCE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Idempotence et clés d'idempotence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POURQUOI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Un client peut réessayer après un timeout. Sans idempotence, un POST peut créer un doublon ou débiter deux fois.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8F7F2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993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138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623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COMMENT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452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Rendre GET, PUT et DELETE idempotents. Pour les écritures sensibles, envoyer une Idempotency-Key et mémoriser le résultat.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122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122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752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EXEMPLE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81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POST /payments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Idempotency-Key: 8f14e45f-...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Retry avec la même clé → même réponse, pas de double débit.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33872"/>
            <a:ext cx="11094415" cy="475488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16168"/>
            <a:ext cx="10728655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3D6B"/>
                </a:solidFill>
                <a:latin typeface="Segoe UI"/>
              </a:rPr>
              <a:t>À RETENIR  ·  Toujours prévoir le retry côté client ; le serveur doit s'y préparer.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68335" y="-2011680"/>
            <a:ext cx="6583680" cy="6583680"/>
          </a:xfrm>
          <a:prstGeom prst="ellipse">
            <a:avLst/>
          </a:prstGeom>
          <a:solidFill>
            <a:srgbClr val="0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31375" y="3474720"/>
            <a:ext cx="3840480" cy="3840480"/>
          </a:xfrm>
          <a:prstGeom prst="ellipse">
            <a:avLst/>
          </a:prstGeom>
          <a:solidFill>
            <a:srgbClr val="0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82880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E67E22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713232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Codes de statut HTTP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3246120"/>
            <a:ext cx="1371600" cy="5029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474720"/>
            <a:ext cx="6583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7E8F7"/>
                </a:solidFill>
                <a:latin typeface="Segoe UI"/>
              </a:rPr>
              <a:t>Le premier contrat de lecture d'une réponse.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773168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672584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Les cinq catégories 1xx à 5xx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515721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56632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Les codes essentiels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5541264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40680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Erreurs normalisées RFC 9457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095" y="62179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C2DD"/>
                </a:solidFill>
                <a:latin typeface="Segoe UI"/>
              </a:rPr>
              <a:t>Plan de veille  ·  Groupe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VI · CATÉGORIES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Les cinq catégories de codes HTTP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2087209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087209" cy="960120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2087209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1xx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30552"/>
            <a:ext cx="208720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97480"/>
            <a:ext cx="1867753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Segoe UI"/>
              </a:rPr>
              <a:t>100 Continue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Segoe UI"/>
              </a:rPr>
              <a:t>101 Switching Protocols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0441" y="1554480"/>
            <a:ext cx="2087209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00441" y="1554480"/>
            <a:ext cx="2087209" cy="960120"/>
          </a:xfrm>
          <a:prstGeom prst="roundRect">
            <a:avLst>
              <a:gd name="adj" fmla="val 6000"/>
            </a:avLst>
          </a:prstGeom>
          <a:solidFill>
            <a:srgbClr val="138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0441" y="1664208"/>
            <a:ext cx="2087209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2xx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441" y="2130552"/>
            <a:ext cx="208720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SUCCÈS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0169" y="2697480"/>
            <a:ext cx="1867753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Segoe UI"/>
              </a:rPr>
              <a:t>200 OK · 201 Created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Segoe UI"/>
              </a:rPr>
              <a:t>204 No Content · 206 Partial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52242" y="1554480"/>
            <a:ext cx="2087209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52242" y="1554480"/>
            <a:ext cx="2087209" cy="960120"/>
          </a:xfrm>
          <a:prstGeom prst="roundRect">
            <a:avLst>
              <a:gd name="adj" fmla="val 6000"/>
            </a:avLst>
          </a:prstGeom>
          <a:solidFill>
            <a:srgbClr val="7D6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2242" y="1664208"/>
            <a:ext cx="2087209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3xx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2242" y="2130552"/>
            <a:ext cx="208720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REDIRECTION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1970" y="2697480"/>
            <a:ext cx="1867753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Segoe UI"/>
              </a:rPr>
              <a:t>301 / 308 · 302 / 307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Segoe UI"/>
              </a:rPr>
              <a:t>304 Not Modified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4044" y="1554480"/>
            <a:ext cx="2087209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04044" y="1554480"/>
            <a:ext cx="2087209" cy="960120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04044" y="1664208"/>
            <a:ext cx="2087209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4xx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4044" y="2130552"/>
            <a:ext cx="208720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ERREUR 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13772" y="2697480"/>
            <a:ext cx="1867753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Segoe UI"/>
              </a:rPr>
              <a:t>400 · 401 · 403 · 404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Segoe UI"/>
              </a:rPr>
              <a:t>409 · 422 · 429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55845" y="1554480"/>
            <a:ext cx="2087209" cy="4069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55845" y="1554480"/>
            <a:ext cx="2087209" cy="960120"/>
          </a:xfrm>
          <a:prstGeom prst="roundRect">
            <a:avLst>
              <a:gd name="adj" fmla="val 6000"/>
            </a:avLst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845" y="1664208"/>
            <a:ext cx="2087209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5xx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845" y="2130552"/>
            <a:ext cx="208720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ERREUR SERVEUR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5573" y="2697480"/>
            <a:ext cx="1867753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Segoe UI"/>
              </a:rPr>
              <a:t>500 · 502 · 503 · 504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F2933"/>
                </a:solidFill>
                <a:latin typeface="Segoe UI"/>
              </a:rPr>
              <a:t>Retry avec backoff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B6B7B"/>
                </a:solidFill>
                <a:latin typeface="Segoe UI"/>
              </a:rPr>
              <a:t>Le premier chiffre donne la famille ; les deux suivants précisent le cas. Toujours vérifier le code avant de lire le corps.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COMPARAISON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Les codes essentiels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957"/>
                <a:gridCol w="3558585"/>
                <a:gridCol w="5651871"/>
              </a:tblGrid>
              <a:tr h="4653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Code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Nom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Quand l'utiliser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</a:tr>
              <a:tr h="4653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200 / 201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OK / Created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Lecture ou création réussie ; 201 + Location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204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No Content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Succès sans corps (DELETE, PATCH vide)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4653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304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Not Modified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Cache conditionnel : réutiliser la copie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400 / 422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Bad Request / Unprocessable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Requête invalide / validation métier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4653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401 / 403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Unauthorized / Forbidden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Non authentifié / authentifié mais interdit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404 / 405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Not Found / Method Not Allowed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Ressource absente / méthode non supportée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4653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409 / 429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Conflict / Too Many Requests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Conflit d'état / quota dépassé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653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3D6B"/>
                          </a:solidFill>
                          <a:latin typeface="Segoe UI"/>
                        </a:rPr>
                        <a:t>500 / 503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Internal Error / Unavailable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Segoe UI"/>
                        </a:rPr>
                        <a:t>Bug serveur / maintenance ou surcharge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Ne jamais renvoyer 200 avec un objet d'erreur dans le corps.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VI · ERREURS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Gestion des erreurs : Problem Details (RFC 9457)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44348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554480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554480"/>
            <a:ext cx="100584" cy="100584"/>
          </a:xfrm>
          <a:prstGeom prst="ellipse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1554480"/>
            <a:ext cx="100584" cy="100584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55648"/>
            <a:ext cx="10801807" cy="3995927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HTTP/1.1 422 Unprocessable Content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Content-Type: application/problem+json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{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  "type": "https://api.exemple.com/errors/validation",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  "title": "Échec de validation",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  "status": 422,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  "detail": "Le champ 'due_date' doit être une date future.",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  "instance": "/api/v1/tasks",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  "request_id": "9b2f7c1e",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  "errors": [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    {"field": "due_date", "code": "date_in_future"}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  ]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Format unique · code HTTP correct · messages utiles · request_id · pas de fuite d'internes · retries sur 429/5xx.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68335" y="-2011680"/>
            <a:ext cx="6583680" cy="6583680"/>
          </a:xfrm>
          <a:prstGeom prst="ellipse">
            <a:avLst/>
          </a:prstGeom>
          <a:solidFill>
            <a:srgbClr val="0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31375" y="3474720"/>
            <a:ext cx="3840480" cy="3840480"/>
          </a:xfrm>
          <a:prstGeom prst="ellipse">
            <a:avLst/>
          </a:prstGeom>
          <a:solidFill>
            <a:srgbClr val="0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82880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E67E22"/>
                </a:solidFill>
                <a:latin typeface="Segoe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713232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Architecture REST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3246120"/>
            <a:ext cx="1371600" cy="5029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474720"/>
            <a:ext cx="6583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7E8F7"/>
                </a:solidFill>
                <a:latin typeface="Segoe UI"/>
              </a:rPr>
              <a:t>Les contraintes qui rendent une API prévisible et évolutive.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773168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672584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Ressources, URIs et représentations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515721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56632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Contraintes REST et HATEOAS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5541264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40680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Bonnes pratiques de conception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095" y="62179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C2DD"/>
                </a:solidFill>
                <a:latin typeface="Segoe UI"/>
              </a:rPr>
              <a:t>Plan de veille  ·  Groupe 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VII · FONDAMENTAUX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Les contraintes REST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564026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73152" cy="1874519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3198266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3D6B"/>
                </a:solidFill>
                <a:latin typeface="Segoe UI"/>
              </a:rPr>
              <a:t>Client-serveur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39"/>
            <a:ext cx="3152546" cy="10515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F2933"/>
                </a:solidFill>
                <a:latin typeface="Segoe UI"/>
              </a:rPr>
              <a:t>Séparer présentation et traitement ; évoluer indépendamment.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3834" y="1508760"/>
            <a:ext cx="3564026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3834" y="1508760"/>
            <a:ext cx="73152" cy="1874519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2434" y="1709928"/>
            <a:ext cx="3198266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3D6B"/>
                </a:solidFill>
                <a:latin typeface="Segoe UI"/>
              </a:rPr>
              <a:t>Sans état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2434" y="2148839"/>
            <a:ext cx="3152546" cy="10515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F2933"/>
                </a:solidFill>
                <a:latin typeface="Segoe UI"/>
              </a:rPr>
              <a:t>Chaque requête contient tout le contexte nécessaire.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79028" y="1508760"/>
            <a:ext cx="3564026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79028" y="1508760"/>
            <a:ext cx="73152" cy="1874519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7628" y="1709928"/>
            <a:ext cx="3198266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3D6B"/>
                </a:solidFill>
                <a:latin typeface="Segoe UI"/>
              </a:rPr>
              <a:t>Cacheable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7628" y="2148839"/>
            <a:ext cx="3152546" cy="10515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F2933"/>
                </a:solidFill>
                <a:latin typeface="Segoe UI"/>
              </a:rPr>
              <a:t>ETag, Cache-Control : réduire latence et charge.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30168"/>
            <a:ext cx="3564026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630168"/>
            <a:ext cx="73152" cy="1874519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831335"/>
            <a:ext cx="3198266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3D6B"/>
                </a:solidFill>
                <a:latin typeface="Segoe UI"/>
              </a:rPr>
              <a:t>Interface uniforme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70248"/>
            <a:ext cx="3152546" cy="10515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F2933"/>
                </a:solidFill>
                <a:latin typeface="Segoe UI"/>
              </a:rPr>
              <a:t>Ressources, représentations, messages auto-descriptifs, HATEOAS.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3834" y="3630168"/>
            <a:ext cx="3564026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13834" y="3630168"/>
            <a:ext cx="73152" cy="1874519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2434" y="3831335"/>
            <a:ext cx="3198266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3D6B"/>
                </a:solidFill>
                <a:latin typeface="Segoe UI"/>
              </a:rPr>
              <a:t>Système en couches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2434" y="4270248"/>
            <a:ext cx="3152546" cy="10515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F2933"/>
                </a:solidFill>
                <a:latin typeface="Segoe UI"/>
              </a:rPr>
              <a:t>Proxy, gateway, CDN, load balancer intercalés.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9028" y="3630168"/>
            <a:ext cx="3564026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79028" y="3630168"/>
            <a:ext cx="73152" cy="1874519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7628" y="3831335"/>
            <a:ext cx="3198266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3D6B"/>
                </a:solidFill>
                <a:latin typeface="Segoe UI"/>
              </a:rPr>
              <a:t>Code à la demande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7628" y="4270248"/>
            <a:ext cx="3152546" cy="10515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F2933"/>
                </a:solidFill>
                <a:latin typeface="Segoe UI"/>
              </a:rPr>
              <a:t>Optionnel : le serveur envoie du code exécutable.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REST = style architectural, pas une norme. HATEOAS est optionnel en pratique.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VII · BONNES PRATIQUES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Concevoir une API REST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POURQUOI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Des URIs prévisibles et des méthodes correctes réduisent le coût d'intégration et les erreurs côté client.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8F7F2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993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138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623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COMMENT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452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Ressources au pluriel, verbes HTTP, pagination, filtres, versioning, erreurs normalisées, cache et documentation.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122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122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752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EXEMPLE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81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GET /api/v1/tasks?done=false&amp;limit=20&amp;offset=0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POST /api/v1/tasks → 201 + Location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PATCH /api/v1/tasks/42 → 200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DELETE /api/v1/tasks/42 → 204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33872"/>
            <a:ext cx="11094415" cy="475488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16168"/>
            <a:ext cx="10728655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3D6B"/>
                </a:solidFill>
                <a:latin typeface="Segoe UI"/>
              </a:rPr>
              <a:t>À RETENIR  ·  Des URLs qui se devinent, des réponses qui se comprennent.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COMPARAISON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HATEOAS et maturité de Richardson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280"/>
                <a:gridCol w="5306024"/>
                <a:gridCol w="4100109"/>
              </a:tblGrid>
              <a:tr h="515721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Niveau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Caractéristique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Exemple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</a:tr>
              <a:tr h="51572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6B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Un seul endpoint, style RPC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POST /api avec une action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51572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6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Ressources identifiées par des URIs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/tasks/42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51572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6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Verbes HTTP + codes de statut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GET, POST, 404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515724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6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HATEOAS : liens d'actions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_links : self, update, delete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La majorité des API publiques sont au niveau 2 ; HATEOAS apporte la découvrabilité mais complexifie le client.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68335" y="-2011680"/>
            <a:ext cx="6583680" cy="6583680"/>
          </a:xfrm>
          <a:prstGeom prst="ellipse">
            <a:avLst/>
          </a:prstGeom>
          <a:solidFill>
            <a:srgbClr val="0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31375" y="3474720"/>
            <a:ext cx="3840480" cy="3840480"/>
          </a:xfrm>
          <a:prstGeom prst="ellipse">
            <a:avLst/>
          </a:prstGeom>
          <a:solidFill>
            <a:srgbClr val="0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82880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E67E22"/>
                </a:solidFill>
                <a:latin typeface="Segoe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713232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Documentation des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3246120"/>
            <a:ext cx="1371600" cy="5029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474720"/>
            <a:ext cx="6583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7E8F7"/>
                </a:solidFill>
                <a:latin typeface="Segoe UI"/>
              </a:rPr>
              <a:t>Une API sans documentation est une API que personne n'utilise.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773168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672584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OpenAPI 3.1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515721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56632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Swagger UI et ReDoc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5541264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40680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Bonnes pratiques et documentation-as-code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095" y="62179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C2DD"/>
                </a:solidFill>
                <a:latin typeface="Segoe UI"/>
              </a:rPr>
              <a:t>Plan de veille  ·  Groupe 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VIII · CONTRAT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OpenAPI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POURQUOI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Un contrat lisible par l'humain et la machine : il fige les formats, permet de générer des clients, des mocks et des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8F7F2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993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138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623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COMMENT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452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Décrire info, servers, paths, paramètres, corps, réponses, composants et sécurité. Versionner la spécification avec le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122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122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752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EXEMPLE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81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openapi: 3.1.0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info: {title: API Tâches, version: 1.0.0}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paths: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  /tasks: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    get: {summary: Lister les tâches}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33872"/>
            <a:ext cx="11094415" cy="475488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16168"/>
            <a:ext cx="10728655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3D6B"/>
                </a:solidFill>
                <a:latin typeface="Segoe UI"/>
              </a:rPr>
              <a:t>À RETENIR  ·  Une source de vérité unique, générée depuis le code quand c'est possible.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Swagger UI, ReDoc et bonnes pratiques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10047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10047" cy="457200"/>
          </a:xfrm>
          <a:prstGeom prst="roundRect">
            <a:avLst>
              <a:gd name="adj" fmla="val 6000"/>
            </a:avLst>
          </a:prstGeom>
          <a:solidFill>
            <a:srgbClr val="138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63624"/>
            <a:ext cx="5080863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INTERFACES GÉNÉRÉES PAR FASTAPI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44287" cy="3703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/docs : </a:t>
            </a:r>
            <a:r>
              <a:rPr sz="1250">
                <a:solidFill>
                  <a:srgbClr val="1F2933"/>
                </a:solidFill>
                <a:latin typeface="Segoe UI"/>
              </a:rPr>
              <a:t>Swagger UI interactif, « Try it out ».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/redoc : </a:t>
            </a:r>
            <a:r>
              <a:rPr sz="1250">
                <a:solidFill>
                  <a:srgbClr val="1F2933"/>
                </a:solidFill>
                <a:latin typeface="Segoe UI"/>
              </a:rPr>
              <a:t>ReDoc, lecture éditoriale.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/openapi.json : </a:t>
            </a:r>
            <a:r>
              <a:rPr sz="1250">
                <a:solidFill>
                  <a:srgbClr val="1F2933"/>
                </a:solidFill>
                <a:latin typeface="Segoe UI"/>
              </a:rPr>
              <a:t>schéma OpenAPI brut.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Avantage : </a:t>
            </a:r>
            <a:r>
              <a:rPr sz="1250">
                <a:solidFill>
                  <a:srgbClr val="1F2933"/>
                </a:solidFill>
                <a:latin typeface="Segoe UI"/>
              </a:rPr>
              <a:t>zéro documentation à maintenir à la main.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463040"/>
            <a:ext cx="5410047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1463040"/>
            <a:ext cx="5410047" cy="457200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563624"/>
            <a:ext cx="5080863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BONNES PRATIQUES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2103120"/>
            <a:ext cx="5044287" cy="3703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Exemples réalistes </a:t>
            </a:r>
            <a:r>
              <a:rPr sz="1250">
                <a:solidFill>
                  <a:srgbClr val="1F2933"/>
                </a:solidFill>
                <a:latin typeface="Segoe UI"/>
              </a:rPr>
              <a:t>pour chaque endpoint et chaque erreur.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Authentification </a:t>
            </a:r>
            <a:r>
              <a:rPr sz="1250">
                <a:solidFill>
                  <a:srgbClr val="1F2933"/>
                </a:solidFill>
                <a:latin typeface="Segoe UI"/>
              </a:rPr>
              <a:t>documentée : token, scopes, refresh.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Erreurs </a:t>
            </a:r>
            <a:r>
              <a:rPr sz="1250">
                <a:solidFill>
                  <a:srgbClr val="1F2933"/>
                </a:solidFill>
                <a:latin typeface="Segoe UI"/>
              </a:rPr>
              <a:t>codes, causes, remèdes.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Cycle de vie </a:t>
            </a:r>
            <a:r>
              <a:rPr sz="1250">
                <a:solidFill>
                  <a:srgbClr val="1F2933"/>
                </a:solidFill>
                <a:latin typeface="Segoe UI"/>
              </a:rPr>
              <a:t>changelog, versioning, dépréciation.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Qualité </a:t>
            </a:r>
            <a:r>
              <a:rPr sz="1250">
                <a:solidFill>
                  <a:srgbClr val="1F2933"/>
                </a:solidFill>
                <a:latin typeface="Segoe UI"/>
              </a:rPr>
              <a:t>lint Spectral, validation en CI, SDK générés.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Documentation-as-code : relue en pull request et testée comme le reste du code.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68335" y="-2011680"/>
            <a:ext cx="6583680" cy="6583680"/>
          </a:xfrm>
          <a:prstGeom prst="ellipse">
            <a:avLst/>
          </a:prstGeom>
          <a:solidFill>
            <a:srgbClr val="0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31375" y="3474720"/>
            <a:ext cx="3840480" cy="3840480"/>
          </a:xfrm>
          <a:prstGeom prst="ellipse">
            <a:avLst/>
          </a:prstGeom>
          <a:solidFill>
            <a:srgbClr val="0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82880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E67E22"/>
                </a:solidFill>
                <a:latin typeface="Segoe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713232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Introduction à FastAPI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3246120"/>
            <a:ext cx="1371600" cy="5029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474720"/>
            <a:ext cx="6583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7E8F7"/>
                </a:solidFill>
                <a:latin typeface="Segoe UI"/>
              </a:rPr>
              <a:t>Le framework Python qui transforme les types en API documentée.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773168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672584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Pourquoi FastAPI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515721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56632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Routes, Pydantic, dépendances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5541264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40680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Tests et bonnes pratiques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095" y="62179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C2DD"/>
                </a:solidFill>
                <a:latin typeface="Segoe UI"/>
              </a:rPr>
              <a:t>Plan de veille  ·  Groupe 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IX · POURQUOI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Pourquoi FastAPI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POURQUOI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Productivité et performance : les types Python servent à la validation, à la sérialisation et à la documentation, sans code dupliqué.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8F7F2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993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138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623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COMMENT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452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Installer fastapi[standard], déclarer les routes, typer les paramètres et les modèles Pydantic, lancer avec fastapi dev.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122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122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752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EXEMPLE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81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pip install "fastapi[standard]"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fastapi dev main.py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→ Documentation sur http://127.0.0.1:8000/docs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33872"/>
            <a:ext cx="11094415" cy="475488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16168"/>
            <a:ext cx="10728655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3D6B"/>
                </a:solidFill>
                <a:latin typeface="Segoe UI"/>
              </a:rPr>
              <a:t>À RETENIR  ·  Moins de code, moins de bugs, une documentation gratuite.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IX ·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Une API CRUD avec FastAPI (extrait)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44348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554480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554480"/>
            <a:ext cx="100584" cy="100584"/>
          </a:xfrm>
          <a:prstGeom prst="ellipse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1554480"/>
            <a:ext cx="100584" cy="100584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55648"/>
            <a:ext cx="10801807" cy="3995927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from fastapi import FastAPI, HTTPException, status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from pydantic import BaseModel, Field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app = FastAPI(title="API Tâches", version="1.0.0")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class TaskCreate(BaseModel):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    title: str = Field(min_length=1, max_length=200)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    due_date: str | None = None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tasks: dict[int, dict] = {}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next_id = 1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@app.post("/api/v1/tasks", status_code=201)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def create_task(payload: TaskCreate):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    global next_id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    task = {"id": next_id, "done": False, **payload.model_dump()}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    tasks[next_id] = task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    next_id += 1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    return task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@app.get("/api/v1/tasks/{task_id}")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def get_task(task_id: int):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    if task_id not in tasks: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        raise HTTPException(404, "Tâche introuvable")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    return tasks[task_id]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Validation automatique · réponses 422 détaillées · Swagger UI · sérialisation JSON.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Validation, dépendances et tests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10047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10047" cy="457200"/>
          </a:xfrm>
          <a:prstGeom prst="roundRect">
            <a:avLst>
              <a:gd name="adj" fmla="val 6000"/>
            </a:avLst>
          </a:prstGeom>
          <a:solidFill>
            <a:srgbClr val="138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63624"/>
            <a:ext cx="5080863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CE QUE FASTAPI AUTOMATISE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44287" cy="3703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Validation : </a:t>
            </a:r>
            <a:r>
              <a:rPr sz="1250">
                <a:solidFill>
                  <a:srgbClr val="1F2933"/>
                </a:solidFill>
                <a:latin typeface="Segoe UI"/>
              </a:rPr>
              <a:t>types, min/max, formats, erreurs 422.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Sérialisation : </a:t>
            </a:r>
            <a:r>
              <a:rPr sz="1250">
                <a:solidFill>
                  <a:srgbClr val="1F2933"/>
                </a:solidFill>
                <a:latin typeface="Segoe UI"/>
              </a:rPr>
              <a:t>dates, modèles, response_model.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Dépendances : </a:t>
            </a:r>
            <a:r>
              <a:rPr sz="1250">
                <a:solidFill>
                  <a:srgbClr val="1F2933"/>
                </a:solidFill>
                <a:latin typeface="Segoe UI"/>
              </a:rPr>
              <a:t>Depends() pour auth, DB, pagination.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Documentation : </a:t>
            </a:r>
            <a:r>
              <a:rPr sz="1250">
                <a:solidFill>
                  <a:srgbClr val="1F2933"/>
                </a:solidFill>
                <a:latin typeface="Segoe UI"/>
              </a:rPr>
              <a:t>OpenAPI, Swagger UI, ReDoc.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Tests : </a:t>
            </a:r>
            <a:r>
              <a:rPr sz="1250">
                <a:solidFill>
                  <a:srgbClr val="1F2933"/>
                </a:solidFill>
                <a:latin typeface="Segoe UI"/>
              </a:rPr>
              <a:t>TestClient + pytest, dependency_overrides.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463040"/>
            <a:ext cx="5410047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1463040"/>
            <a:ext cx="5410047" cy="457200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563624"/>
            <a:ext cx="5080863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BONNES PRATIQUES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2103120"/>
            <a:ext cx="5044287" cy="3703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Routers : </a:t>
            </a:r>
            <a:r>
              <a:rPr sz="1250">
                <a:solidFill>
                  <a:srgbClr val="1F2933"/>
                </a:solidFill>
                <a:latin typeface="Segoe UI"/>
              </a:rPr>
              <a:t>découper par domaine, main.py mince.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Modèles : </a:t>
            </a:r>
            <a:r>
              <a:rPr sz="1250">
                <a:solidFill>
                  <a:srgbClr val="1F2933"/>
                </a:solidFill>
                <a:latin typeface="Segoe UI"/>
              </a:rPr>
              <a:t>séparer entrée, mise à jour, sortie.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ORM : </a:t>
            </a:r>
            <a:r>
              <a:rPr sz="1250">
                <a:solidFill>
                  <a:srgbClr val="1F2933"/>
                </a:solidFill>
                <a:latin typeface="Segoe UI"/>
              </a:rPr>
              <a:t>ne jamais exposer directement les modèles.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Config : </a:t>
            </a:r>
            <a:r>
              <a:rPr sz="1250">
                <a:solidFill>
                  <a:srgbClr val="1F2933"/>
                </a:solidFill>
                <a:latin typeface="Segoe UI"/>
              </a:rPr>
              <a:t>pydantic-settings + variables d'environnement.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CORS : </a:t>
            </a:r>
            <a:r>
              <a:rPr sz="1250">
                <a:solidFill>
                  <a:srgbClr val="1F2933"/>
                </a:solidFill>
                <a:latin typeface="Segoe UI"/>
              </a:rPr>
              <a:t>liste blanche explicite, jamais * en prod.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Tester les cas nominaux, les erreurs et les autorisations.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68335" y="-2011680"/>
            <a:ext cx="6583680" cy="6583680"/>
          </a:xfrm>
          <a:prstGeom prst="ellipse">
            <a:avLst/>
          </a:prstGeom>
          <a:solidFill>
            <a:srgbClr val="0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31375" y="3474720"/>
            <a:ext cx="3840480" cy="3840480"/>
          </a:xfrm>
          <a:prstGeom prst="ellipse">
            <a:avLst/>
          </a:prstGeom>
          <a:solidFill>
            <a:srgbClr val="0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82880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E67E22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713232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Programmation synchrone et asynchrone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3246120"/>
            <a:ext cx="1371600" cy="5029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474720"/>
            <a:ext cx="6583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7E8F7"/>
                </a:solidFill>
                <a:latin typeface="Segoe UI"/>
              </a:rPr>
              <a:t>Attendre sans bloquer : la clé de la concurrence.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773168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672584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Bloquant vs non bloquant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515721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56632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Event loop et async/await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5541264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40680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Choisir dans 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095" y="62179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C2DD"/>
                </a:solidFill>
                <a:latin typeface="Segoe UI"/>
              </a:rPr>
              <a:t>Plan de veille  ·  Groupe 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COMPARAISON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Synchrone vs asynchrone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3675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4160405"/>
                <a:gridCol w="4160405"/>
              </a:tblGrid>
              <a:tr h="525126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Critère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Synchrone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Asynchrone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</a:tr>
              <a:tr h="52512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6B"/>
                          </a:solidFill>
                          <a:latin typeface="Segoe UI"/>
                        </a:rPr>
                        <a:t>Modèle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Un thread par tâche (ou pool)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Une boucle d'événements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52512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6B"/>
                          </a:solidFill>
                          <a:latin typeface="Segoe UI"/>
                        </a:rPr>
                        <a:t>I/O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Bloquant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Non bloquant (await)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52512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6B"/>
                          </a:solidFill>
                          <a:latin typeface="Segoe UI"/>
                        </a:rPr>
                        <a:t>Concurrence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Limitée par les threads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Très élevée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52512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6B"/>
                          </a:solidFill>
                          <a:latin typeface="Segoe UI"/>
                        </a:rPr>
                        <a:t>Complexité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Faible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Moyenne à élevée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52512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6B"/>
                          </a:solidFill>
                          <a:latin typeface="Segoe UI"/>
                        </a:rPr>
                        <a:t>CPU intensif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Adapté (processus/threads)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À déporter (process pool)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525131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0B3D6B"/>
                          </a:solidFill>
                          <a:latin typeface="Segoe UI"/>
                        </a:rPr>
                        <a:t>Cas idéal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Scripts, CPU, faible concurrence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3"/>
                          </a:solidFill>
                          <a:latin typeface="Segoe UI"/>
                        </a:rPr>
                        <a:t>API, réseau, streaming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En cas de doute : mesurer avec un test de charge (Locust, k6).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X · FASTAPI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Async dans FastAPI : le bon réflexe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44348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554480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554480"/>
            <a:ext cx="100584" cy="100584"/>
          </a:xfrm>
          <a:prstGeom prst="ellipse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1554480"/>
            <a:ext cx="100584" cy="100584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55648"/>
            <a:ext cx="10801807" cy="3995927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@app.get("/sync")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def sync_endpoint():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    # FastAPI l'exécute dans un threadpool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    return requests.get("https://api.exemple.com/data").json()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@app.get("/async")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async def async_endpoint():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    # Bibliothèque async : non bloquant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    async with httpx.AsyncClient() as client: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        r = await client.get("https://api.exemple.com/data")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    return r.json()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@app.get("/bad")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async def bad_endpoint():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    # DANGER : requests bloque la boucle d'événements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E2E8F0"/>
                </a:solidFill>
                <a:latin typeface="Consolas"/>
              </a:rPr>
              <a:t>    return requests.get("https://api.exemple.com/data").json()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async def + bibliothèque bloquante = toute l'API ralentit. Utiliser httpx, asyncpg, motor, aiofiles...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68335" y="-2011680"/>
            <a:ext cx="6583680" cy="6583680"/>
          </a:xfrm>
          <a:prstGeom prst="ellipse">
            <a:avLst/>
          </a:prstGeom>
          <a:solidFill>
            <a:srgbClr val="0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31375" y="3474720"/>
            <a:ext cx="3840480" cy="3840480"/>
          </a:xfrm>
          <a:prstGeom prst="ellipse">
            <a:avLst/>
          </a:prstGeom>
          <a:solidFill>
            <a:srgbClr val="0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82880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E67E22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713232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Sécurité des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3246120"/>
            <a:ext cx="1371600" cy="5029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474720"/>
            <a:ext cx="6583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7E8F7"/>
                </a:solidFill>
                <a:latin typeface="Segoe UI"/>
              </a:rPr>
              <a:t>Authentifier, autoriser, valider, journaliser.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773168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672584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Principes et OWASP API Top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515721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56632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OAuth2 et OpenID Connect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5541264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40680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JWT : structure, validation, pièges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095" y="62179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C2DD"/>
                </a:solidFill>
                <a:latin typeface="Segoe UI"/>
              </a:rPr>
              <a:t>Plan de veille  ·  Groupe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XI · PRINCIPES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Principes de sécurité et OWASP API Top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5120640" cy="429768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00" b="1">
                <a:solidFill>
                  <a:srgbClr val="0B3D6B"/>
                </a:solidFill>
                <a:latin typeface="Segoe UI"/>
              </a:rPr>
              <a:t>Moindre privilège : </a:t>
            </a:r>
            <a:r>
              <a:rPr sz="1200">
                <a:solidFill>
                  <a:srgbClr val="1F2933"/>
                </a:solidFill>
                <a:latin typeface="Segoe UI"/>
              </a:rPr>
              <a:t>seulement les droits nécessaires.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00" b="1">
                <a:solidFill>
                  <a:srgbClr val="0B3D6B"/>
                </a:solidFill>
                <a:latin typeface="Segoe UI"/>
              </a:rPr>
              <a:t>Défense en profondeur : </a:t>
            </a:r>
            <a:r>
              <a:rPr sz="1200">
                <a:solidFill>
                  <a:srgbClr val="1F2933"/>
                </a:solidFill>
                <a:latin typeface="Segoe UI"/>
              </a:rPr>
              <a:t>TLS, auth, validation, quotas, logs.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00" b="1">
                <a:solidFill>
                  <a:srgbClr val="0B3D6B"/>
                </a:solidFill>
                <a:latin typeface="Segoe UI"/>
              </a:rPr>
              <a:t>Zéro confiance : </a:t>
            </a:r>
            <a:r>
              <a:rPr sz="1200">
                <a:solidFill>
                  <a:srgbClr val="1F2933"/>
                </a:solidFill>
                <a:latin typeface="Segoe UI"/>
              </a:rPr>
              <a:t>ne jamais croire l'entrée client.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00" b="1">
                <a:solidFill>
                  <a:srgbClr val="0B3D6B"/>
                </a:solidFill>
                <a:latin typeface="Segoe UI"/>
              </a:rPr>
              <a:t>Échec sécurisé : </a:t>
            </a:r>
            <a:r>
              <a:rPr sz="1200">
                <a:solidFill>
                  <a:srgbClr val="1F2933"/>
                </a:solidFill>
                <a:latin typeface="Segoe UI"/>
              </a:rPr>
              <a:t>refuser par défaut.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00" b="1">
                <a:solidFill>
                  <a:srgbClr val="0B3D6B"/>
                </a:solidFill>
                <a:latin typeface="Segoe UI"/>
              </a:rPr>
              <a:t>Secrets hors du code : </a:t>
            </a:r>
            <a:r>
              <a:rPr sz="1200">
                <a:solidFill>
                  <a:srgbClr val="1F2933"/>
                </a:solidFill>
                <a:latin typeface="Segoe UI"/>
              </a:rPr>
              <a:t>env, coffre-fort, rotation.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0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00" b="1">
                <a:solidFill>
                  <a:srgbClr val="0B3D6B"/>
                </a:solidFill>
                <a:latin typeface="Segoe UI"/>
              </a:rPr>
              <a:t>Audit : </a:t>
            </a:r>
            <a:r>
              <a:rPr sz="1200">
                <a:solidFill>
                  <a:srgbClr val="1F2933"/>
                </a:solidFill>
                <a:latin typeface="Segoe UI"/>
              </a:rPr>
              <a:t>tracer sans stocker de secrets.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508760"/>
            <a:ext cx="566928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627632"/>
            <a:ext cx="53035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67E22"/>
                </a:solidFill>
                <a:latin typeface="Segoe UI"/>
              </a:rPr>
              <a:t>OWASP API SECURITY TOP 10 ·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011680"/>
            <a:ext cx="5303520" cy="402336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1">
                <a:solidFill>
                  <a:srgbClr val="B03A2E"/>
                </a:solidFill>
                <a:latin typeface="Segoe UI"/>
              </a:rPr>
              <a:t>•  </a:t>
            </a:r>
            <a:r>
              <a:rPr sz="1019">
                <a:solidFill>
                  <a:srgbClr val="1F2933"/>
                </a:solidFill>
                <a:latin typeface="Segoe UI"/>
              </a:rPr>
              <a:t>API1  BOLA — vérifier la propriété de chaque objet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1">
                <a:solidFill>
                  <a:srgbClr val="B03A2E"/>
                </a:solidFill>
                <a:latin typeface="Segoe UI"/>
              </a:rPr>
              <a:t>•  </a:t>
            </a:r>
            <a:r>
              <a:rPr sz="1019">
                <a:solidFill>
                  <a:srgbClr val="1F2933"/>
                </a:solidFill>
                <a:latin typeface="Segoe UI"/>
              </a:rPr>
              <a:t>API2  Broken Authentication — tokens, MFA, rotation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1">
                <a:solidFill>
                  <a:srgbClr val="B03A2E"/>
                </a:solidFill>
                <a:latin typeface="Segoe UI"/>
              </a:rPr>
              <a:t>•  </a:t>
            </a:r>
            <a:r>
              <a:rPr sz="1019">
                <a:solidFill>
                  <a:srgbClr val="1F2933"/>
                </a:solidFill>
                <a:latin typeface="Segoe UI"/>
              </a:rPr>
              <a:t>API3  Property Level Authorization — listes blanches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1">
                <a:solidFill>
                  <a:srgbClr val="B03A2E"/>
                </a:solidFill>
                <a:latin typeface="Segoe UI"/>
              </a:rPr>
              <a:t>•  </a:t>
            </a:r>
            <a:r>
              <a:rPr sz="1019">
                <a:solidFill>
                  <a:srgbClr val="1F2933"/>
                </a:solidFill>
                <a:latin typeface="Segoe UI"/>
              </a:rPr>
              <a:t>API4  Resource Consumption — quotas, pagination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1">
                <a:solidFill>
                  <a:srgbClr val="B03A2E"/>
                </a:solidFill>
                <a:latin typeface="Segoe UI"/>
              </a:rPr>
              <a:t>•  </a:t>
            </a:r>
            <a:r>
              <a:rPr sz="1019">
                <a:solidFill>
                  <a:srgbClr val="1F2933"/>
                </a:solidFill>
                <a:latin typeface="Segoe UI"/>
              </a:rPr>
              <a:t>API5  Function Level Authorization — rôles admin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1">
                <a:solidFill>
                  <a:srgbClr val="B03A2E"/>
                </a:solidFill>
                <a:latin typeface="Segoe UI"/>
              </a:rPr>
              <a:t>•  </a:t>
            </a:r>
            <a:r>
              <a:rPr sz="1019">
                <a:solidFill>
                  <a:srgbClr val="1F2933"/>
                </a:solidFill>
                <a:latin typeface="Segoe UI"/>
              </a:rPr>
              <a:t>API6  Sensitive Business Flows — anti-bot, limites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1">
                <a:solidFill>
                  <a:srgbClr val="B03A2E"/>
                </a:solidFill>
                <a:latin typeface="Segoe UI"/>
              </a:rPr>
              <a:t>•  </a:t>
            </a:r>
            <a:r>
              <a:rPr sz="1019">
                <a:solidFill>
                  <a:srgbClr val="1F2933"/>
                </a:solidFill>
                <a:latin typeface="Segoe UI"/>
              </a:rPr>
              <a:t>API7  SSRF — liste blanche de domaines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1">
                <a:solidFill>
                  <a:srgbClr val="B03A2E"/>
                </a:solidFill>
                <a:latin typeface="Segoe UI"/>
              </a:rPr>
              <a:t>•  </a:t>
            </a:r>
            <a:r>
              <a:rPr sz="1019">
                <a:solidFill>
                  <a:srgbClr val="1F2933"/>
                </a:solidFill>
                <a:latin typeface="Segoe UI"/>
              </a:rPr>
              <a:t>API8  Security Misconfiguration — CORS, debug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1">
                <a:solidFill>
                  <a:srgbClr val="B03A2E"/>
                </a:solidFill>
                <a:latin typeface="Segoe UI"/>
              </a:rPr>
              <a:t>•  </a:t>
            </a:r>
            <a:r>
              <a:rPr sz="1019">
                <a:solidFill>
                  <a:srgbClr val="1F2933"/>
                </a:solidFill>
                <a:latin typeface="Segoe UI"/>
              </a:rPr>
              <a:t>API9  Inventory Management — versions, dépréciation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1">
                <a:solidFill>
                  <a:srgbClr val="B03A2E"/>
                </a:solidFill>
                <a:latin typeface="Segoe UI"/>
              </a:rPr>
              <a:t>•  </a:t>
            </a:r>
            <a:r>
              <a:rPr sz="1019">
                <a:solidFill>
                  <a:srgbClr val="1F2933"/>
                </a:solidFill>
                <a:latin typeface="Segoe UI"/>
              </a:rPr>
              <a:t>API10 Unsafe Consumption — valider les API tierces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COMPARAISON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Mécanismes d'authentification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976"/>
                <a:gridCol w="3328324"/>
                <a:gridCol w="2403789"/>
                <a:gridCol w="3328324"/>
              </a:tblGrid>
              <a:tr h="48593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Mécanisme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Principe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Usage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Limites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</a:tr>
              <a:tr h="485938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0B3D6B"/>
                          </a:solidFill>
                          <a:latin typeface="Segoe UI"/>
                        </a:rPr>
                        <a:t>Basic Auth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>
                          <a:solidFill>
                            <a:srgbClr val="1F2933"/>
                          </a:solidFill>
                          <a:latin typeface="Segoe UI"/>
                        </a:rPr>
                        <a:t>Login:mot de passe en Base64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>
                          <a:solidFill>
                            <a:srgbClr val="1F2933"/>
                          </a:solidFill>
                          <a:latin typeface="Segoe UI"/>
                        </a:rPr>
                        <a:t>Interne, tests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>
                          <a:solidFill>
                            <a:srgbClr val="1F2933"/>
                          </a:solidFill>
                          <a:latin typeface="Segoe UI"/>
                        </a:rPr>
                        <a:t>TLS obligatoire, peu granulaire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85938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0B3D6B"/>
                          </a:solidFill>
                          <a:latin typeface="Segoe UI"/>
                        </a:rPr>
                        <a:t>Clé API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>
                          <a:solidFill>
                            <a:srgbClr val="1F2933"/>
                          </a:solidFill>
                          <a:latin typeface="Segoe UI"/>
                        </a:rPr>
                        <a:t>Secret dans un en-tête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>
                          <a:solidFill>
                            <a:srgbClr val="1F2933"/>
                          </a:solidFill>
                          <a:latin typeface="Segoe UI"/>
                        </a:rPr>
                        <a:t>Serveur à serveur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>
                          <a:solidFill>
                            <a:srgbClr val="1F2933"/>
                          </a:solidFill>
                          <a:latin typeface="Segoe UI"/>
                        </a:rPr>
                        <a:t>Rotation, fuite, pas d'identité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485938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0B3D6B"/>
                          </a:solidFill>
                          <a:latin typeface="Segoe UI"/>
                        </a:rPr>
                        <a:t>Session / cookie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>
                          <a:solidFill>
                            <a:srgbClr val="1F2933"/>
                          </a:solidFill>
                          <a:latin typeface="Segoe UI"/>
                        </a:rPr>
                        <a:t>Cookie signé + session serveur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>
                          <a:solidFill>
                            <a:srgbClr val="1F2933"/>
                          </a:solidFill>
                          <a:latin typeface="Segoe UI"/>
                        </a:rPr>
                        <a:t>Applications web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>
                          <a:solidFill>
                            <a:srgbClr val="1F2933"/>
                          </a:solidFill>
                          <a:latin typeface="Segoe UI"/>
                        </a:rPr>
                        <a:t>CSRF, scaling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85938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0B3D6B"/>
                          </a:solidFill>
                          <a:latin typeface="Segoe UI"/>
                        </a:rPr>
                        <a:t>Bearer token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>
                          <a:solidFill>
                            <a:srgbClr val="1F2933"/>
                          </a:solidFill>
                          <a:latin typeface="Segoe UI"/>
                        </a:rPr>
                        <a:t>JWT ou token opaque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>
                          <a:solidFill>
                            <a:srgbClr val="1F2933"/>
                          </a:solidFill>
                          <a:latin typeface="Segoe UI"/>
                        </a:rPr>
                        <a:t>API, mobile, SPA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>
                          <a:solidFill>
                            <a:srgbClr val="1F2933"/>
                          </a:solidFill>
                          <a:latin typeface="Segoe UI"/>
                        </a:rPr>
                        <a:t>Vol, expiration, révocation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485938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0B3D6B"/>
                          </a:solidFill>
                          <a:latin typeface="Segoe UI"/>
                        </a:rPr>
                        <a:t>OAuth2 / OIDC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>
                          <a:solidFill>
                            <a:srgbClr val="1F2933"/>
                          </a:solidFill>
                          <a:latin typeface="Segoe UI"/>
                        </a:rPr>
                        <a:t>Délégation d'autorisation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>
                          <a:solidFill>
                            <a:srgbClr val="1F2933"/>
                          </a:solidFill>
                          <a:latin typeface="Segoe UI"/>
                        </a:rPr>
                        <a:t>Google, GitHub, SSO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>
                          <a:solidFill>
                            <a:srgbClr val="1F2933"/>
                          </a:solidFill>
                          <a:latin typeface="Segoe UI"/>
                        </a:rPr>
                        <a:t>Complexité de configuration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485940">
                <a:tc>
                  <a:txBody>
                    <a:bodyPr wrap="square"/>
                    <a:lstStyle/>
                    <a:p>
                      <a:r>
                        <a:rPr sz="1030" b="1">
                          <a:solidFill>
                            <a:srgbClr val="0B3D6B"/>
                          </a:solidFill>
                          <a:latin typeface="Segoe UI"/>
                        </a:rPr>
                        <a:t>mTLS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>
                          <a:solidFill>
                            <a:srgbClr val="1F2933"/>
                          </a:solidFill>
                          <a:latin typeface="Segoe UI"/>
                        </a:rPr>
                        <a:t>Certificat client + serveur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>
                          <a:solidFill>
                            <a:srgbClr val="1F2933"/>
                          </a:solidFill>
                          <a:latin typeface="Segoe UI"/>
                        </a:rPr>
                        <a:t>Service mesh, B2B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30">
                          <a:solidFill>
                            <a:srgbClr val="1F2933"/>
                          </a:solidFill>
                          <a:latin typeface="Segoe UI"/>
                        </a:rPr>
                        <a:t>Gestion des certificats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Choisir selon le contexte : utilisateur, service, appareil, navigateur.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XI · OAUTH2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OAuth2 : les flows essentiels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POURQUOI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Déléguer l'accès sans partager le mot de passe : l'utilisateur consent, le serveur d'autorisation délivre un token limité.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E8F7F2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993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138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623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COMMENT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452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Rôles : Resource Owner, Client, Authorization Server, Resource Server. Authorization Code + PKCE, Client Credentials, Device Code, Refresh Token.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1220" y="1481328"/>
            <a:ext cx="3551834" cy="4160520"/>
          </a:xfrm>
          <a:prstGeom prst="roundRect">
            <a:avLst>
              <a:gd name="adj" fmla="val 6000"/>
            </a:avLst>
          </a:prstGeom>
          <a:solidFill>
            <a:srgbClr val="FDF1E3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1220" y="1481328"/>
            <a:ext cx="3551834" cy="42062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7524" y="1581912"/>
            <a:ext cx="3277514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EXEMPLE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5812" y="2075688"/>
            <a:ext cx="3222650" cy="34290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1. Redirection + code_challenge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2. Code + code_verifier → token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3. API : Authorization: Bearer &lt;token&gt;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1F2933"/>
                </a:solidFill>
                <a:latin typeface="Segoe UI"/>
              </a:rPr>
              <a:t>4. Validation signature, exp, aud, scope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33872"/>
            <a:ext cx="11094415" cy="475488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16168"/>
            <a:ext cx="10728655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3D6B"/>
                </a:solidFill>
                <a:latin typeface="Segoe UI"/>
              </a:rPr>
              <a:t>À RETENIR  ·  Ne jamais utiliser les flows Implicit ou Password : dépréciés.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XI · JWT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JWT : structure et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1094415" cy="44348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1554480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554480"/>
            <a:ext cx="100584" cy="100584"/>
          </a:xfrm>
          <a:prstGeom prst="ellipse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1554480"/>
            <a:ext cx="100584" cy="100584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755648"/>
            <a:ext cx="10801807" cy="3995927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2E8F0"/>
                </a:solidFill>
                <a:latin typeface="Consolas"/>
              </a:rPr>
              <a:t>header.payload.signature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2E8F0"/>
                </a:solidFill>
                <a:latin typeface="Consolas"/>
              </a:rPr>
              <a:t># Payload (lisible par tous !)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2E8F0"/>
                </a:solidFill>
                <a:latin typeface="Consolas"/>
              </a:rPr>
              <a:t>{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2E8F0"/>
                </a:solidFill>
                <a:latin typeface="Consolas"/>
              </a:rPr>
              <a:t>  "iss": "https://auth.exemple.com",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2E8F0"/>
                </a:solidFill>
                <a:latin typeface="Consolas"/>
              </a:rPr>
              <a:t>  "sub": "user-42",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2E8F0"/>
                </a:solidFill>
                <a:latin typeface="Consolas"/>
              </a:rPr>
              <a:t>  "aud": "api-taches",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2E8F0"/>
                </a:solidFill>
                <a:latin typeface="Consolas"/>
              </a:rPr>
              <a:t>  "exp": 1793520000,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2E8F0"/>
                </a:solidFill>
                <a:latin typeface="Consolas"/>
              </a:rPr>
              <a:t>  "iat": 1793516400,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2E8F0"/>
                </a:solidFill>
                <a:latin typeface="Consolas"/>
              </a:rPr>
              <a:t>  "scope": "tasks:read tasks:write",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2E8F0"/>
                </a:solidFill>
                <a:latin typeface="Consolas"/>
              </a:rPr>
              <a:t>  "jti": "8f14e45f-..."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2E8F0"/>
                </a:solidFill>
                <a:latin typeface="Consolas"/>
              </a:rPr>
              <a:t>}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2E8F0"/>
                </a:solidFill>
                <a:latin typeface="Consolas"/>
              </a:rPr>
              <a:t/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2E8F0"/>
                </a:solidFill>
                <a:latin typeface="Consolas"/>
              </a:rPr>
              <a:t># Validation côté API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2E8F0"/>
                </a:solidFill>
                <a:latin typeface="Consolas"/>
              </a:rPr>
              <a:t>jwt.decode(token, PUBLIC_KEY, algorithms=["RS256"],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2E8F0"/>
                </a:solidFill>
                <a:latin typeface="Consolas"/>
              </a:rPr>
              <a:t>           audience="api-taches", issuer="https://auth.exemple.com",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2E8F0"/>
                </a:solidFill>
                <a:latin typeface="Consolas"/>
              </a:rPr>
              <a:t>           options={"require": ["exp", "iat", "iss", "aud"]})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Ne jamais accepter alg=none · valider aud/iss/exp · clés courtes et rotation · pas de secret dans le payload.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168335" y="-2011680"/>
            <a:ext cx="6583680" cy="6583680"/>
          </a:xfrm>
          <a:prstGeom prst="ellipse">
            <a:avLst/>
          </a:prstGeom>
          <a:solidFill>
            <a:srgbClr val="0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31375" y="3474720"/>
            <a:ext cx="3840480" cy="3840480"/>
          </a:xfrm>
          <a:prstGeom prst="ellipse">
            <a:avLst/>
          </a:prstGeom>
          <a:solidFill>
            <a:srgbClr val="0E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82880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E67E22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713232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Déploiement open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3246120"/>
            <a:ext cx="1371600" cy="5029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3474720"/>
            <a:ext cx="658368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7E8F7"/>
                </a:solidFill>
                <a:latin typeface="Segoe UI"/>
              </a:rPr>
              <a:t>Rendre l'API accessible, supervisée et reproductible.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4773168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672584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Coolify, Dokku, CapRover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515721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5056632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Dockerfile et Docker Compose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5541264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40680"/>
            <a:ext cx="64008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Segoe UI"/>
              </a:rPr>
              <a:t>Checklist de mise en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095" y="6217920"/>
            <a:ext cx="3108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FC2DD"/>
                </a:solidFill>
                <a:latin typeface="Segoe UI"/>
              </a:rPr>
              <a:t>Plan de veille  ·  Groupe 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COMPARAISON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Trois plateformes de déploiement open source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3502"/>
                <a:gridCol w="2946953"/>
                <a:gridCol w="1560152"/>
                <a:gridCol w="4853806"/>
              </a:tblGrid>
              <a:tr h="61036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Plateforme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Modèle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Licence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Points forts</a:t>
                      </a:r>
                    </a:p>
                  </a:txBody>
                  <a:tcPr marL="73152" marR="54864" marT="18288" marB="18288">
                    <a:solidFill>
                      <a:srgbClr val="0B3D6B"/>
                    </a:solidFill>
                  </a:tcPr>
                </a:tc>
              </a:tr>
              <a:tr h="61036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3D6B"/>
                          </a:solidFill>
                          <a:latin typeface="Segoe UI"/>
                        </a:rPr>
                        <a:t>Coolify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Segoe UI"/>
                        </a:rPr>
                        <a:t>PaaS auto-hébergé, Docker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Segoe UI"/>
                        </a:rPr>
                        <a:t>Apache-2.0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Segoe UI"/>
                        </a:rPr>
                        <a:t>UI complète, Git deploy, Compose, SSL, previews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  <a:tr h="61036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3D6B"/>
                          </a:solidFill>
                          <a:latin typeface="Segoe UI"/>
                        </a:rPr>
                        <a:t>Dokku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Segoe UI"/>
                        </a:rPr>
                        <a:t>Mini-Heroku, Docker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Segoe UI"/>
                        </a:rPr>
                        <a:t>MIT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Segoe UI"/>
                        </a:rPr>
                        <a:t>Très léger, git push, buildpacks, plugins</a:t>
                      </a:r>
                    </a:p>
                  </a:txBody>
                  <a:tcPr marL="73152" marR="54864" marT="18288" marB="18288">
                    <a:solidFill>
                      <a:srgbClr val="F7FAFC"/>
                    </a:solidFill>
                  </a:tcPr>
                </a:tc>
              </a:tr>
              <a:tr h="61036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0B3D6B"/>
                          </a:solidFill>
                          <a:latin typeface="Segoe UI"/>
                        </a:rPr>
                        <a:t>CapRover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Segoe UI"/>
                        </a:rPr>
                        <a:t>PaaS sur Docker Swarm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Segoe UI"/>
                        </a:rPr>
                        <a:t>Apache-2.0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3"/>
                          </a:solidFill>
                          <a:latin typeface="Segoe UI"/>
                        </a:rPr>
                        <a:t>UI web, catalogue one-click, clustering, SSL</a:t>
                      </a:r>
                    </a:p>
                  </a:txBody>
                  <a:tcPr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Toutes s'installent sur un VPS et s'appuient sur Docker. Vérifier la licence avant un usage commercial.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Déployer FastAPI avec Docker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10047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10047" cy="457200"/>
          </a:xfrm>
          <a:prstGeom prst="roundRect">
            <a:avLst>
              <a:gd name="adj" fmla="val 6000"/>
            </a:avLst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63624"/>
            <a:ext cx="5080863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DOCKERFILE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44287" cy="3703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Base : </a:t>
            </a:r>
            <a:r>
              <a:rPr sz="1250">
                <a:solidFill>
                  <a:srgbClr val="1F2933"/>
                </a:solidFill>
                <a:latin typeface="Segoe UI"/>
              </a:rPr>
              <a:t>python:3.12-slim.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Dépendances : </a:t>
            </a:r>
            <a:r>
              <a:rPr sz="1250">
                <a:solidFill>
                  <a:srgbClr val="1F2933"/>
                </a:solidFill>
                <a:latin typeface="Segoe UI"/>
              </a:rPr>
              <a:t>pip install -r requirements.txt.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Code : </a:t>
            </a:r>
            <a:r>
              <a:rPr sz="1250">
                <a:solidFill>
                  <a:srgbClr val="1F2933"/>
                </a:solidFill>
                <a:latin typeface="Segoe UI"/>
              </a:rPr>
              <a:t>COPY . /app.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Commande : </a:t>
            </a:r>
            <a:r>
              <a:rPr sz="1250">
                <a:solidFill>
                  <a:srgbClr val="1F2933"/>
                </a:solidFill>
                <a:latin typeface="Segoe UI"/>
              </a:rPr>
              <a:t>fastapi run app/main.py --host 0.0.0.0.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Port : </a:t>
            </a:r>
            <a:r>
              <a:rPr sz="1250">
                <a:solidFill>
                  <a:srgbClr val="1F2933"/>
                </a:solidFill>
                <a:latin typeface="Segoe UI"/>
              </a:rPr>
              <a:t>EXPOSE 8000.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463040"/>
            <a:ext cx="5410047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33007" y="1463040"/>
            <a:ext cx="5410047" cy="457200"/>
          </a:xfrm>
          <a:prstGeom prst="roundRect">
            <a:avLst>
              <a:gd name="adj" fmla="val 6000"/>
            </a:avLst>
          </a:prstGeom>
          <a:solidFill>
            <a:srgbClr val="138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1563624"/>
            <a:ext cx="5080863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DOCKER-COMPOSE.YML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7" y="2103120"/>
            <a:ext cx="5044287" cy="3703320"/>
          </a:xfrm>
          <a:prstGeom prst="rect">
            <a:avLst/>
          </a:prstGeom>
          <a:noFill/>
        </p:spPr>
        <p:txBody>
          <a:bodyPr wrap="square" lIns="18288" rIns="18288" tIns="9144" bIns="9144">
            <a:no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API : </a:t>
            </a:r>
            <a:r>
              <a:rPr sz="1250">
                <a:solidFill>
                  <a:srgbClr val="1F2933"/>
                </a:solidFill>
                <a:latin typeface="Segoe UI"/>
              </a:rPr>
              <a:t>build ., port 8000, restart unless-stopped.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Base : </a:t>
            </a:r>
            <a:r>
              <a:rPr sz="1250">
                <a:solidFill>
                  <a:srgbClr val="1F2933"/>
                </a:solidFill>
                <a:latin typeface="Segoe UI"/>
              </a:rPr>
              <a:t>postgres:16-alpine + volume.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Config : </a:t>
            </a:r>
            <a:r>
              <a:rPr sz="1250">
                <a:solidFill>
                  <a:srgbClr val="1F2933"/>
                </a:solidFill>
                <a:latin typeface="Segoe UI"/>
              </a:rPr>
              <a:t>DATABASE_URL, JWT_SECRET en env.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Santé : </a:t>
            </a:r>
            <a:r>
              <a:rPr sz="1250">
                <a:solidFill>
                  <a:srgbClr val="1F2933"/>
                </a:solidFill>
                <a:latin typeface="Segoe UI"/>
              </a:rPr>
              <a:t>healthcheck pg_isready.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>
                <a:solidFill>
                  <a:srgbClr val="E67E22"/>
                </a:solidFill>
                <a:latin typeface="Segoe UI"/>
              </a:rPr>
              <a:t>•  </a:t>
            </a:r>
            <a:r>
              <a:rPr sz="1250" b="1">
                <a:solidFill>
                  <a:srgbClr val="0B3D6B"/>
                </a:solidFill>
                <a:latin typeface="Segoe UI"/>
              </a:rPr>
              <a:t>Réseau : </a:t>
            </a:r>
            <a:r>
              <a:rPr sz="1250">
                <a:solidFill>
                  <a:srgbClr val="1F2933"/>
                </a:solidFill>
                <a:latin typeface="Segoe UI"/>
              </a:rPr>
              <a:t>réseau interne, reverse proxy TLS.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B6B7B"/>
                </a:solidFill>
                <a:latin typeface="Segoe UI"/>
              </a:rPr>
              <a:t>Le même conteneur tourne en local et en production : reproductibilité et isolation.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CHAPITRE XII ·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Checklist de mise en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73936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8D75"/>
                </a:solidFill>
                <a:latin typeface="Segoe UI"/>
              </a:rPr>
              <a:t>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755648"/>
            <a:ext cx="47091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Variables d'environnement et secrets hors Git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00200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773936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8D75"/>
                </a:solidFill>
                <a:latin typeface="Segoe U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9128" y="1755648"/>
            <a:ext cx="47091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HTTPS obligatoire et redirection HTTP → HTTPS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41448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615184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8D75"/>
                </a:solidFill>
                <a:latin typeface="Segoe U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596896"/>
            <a:ext cx="47091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Reverse proxy et en-têtes de sécurité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441448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2615184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8D75"/>
                </a:solidFill>
                <a:latin typeface="Segoe U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2596896"/>
            <a:ext cx="47091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Health check /health et redémarrage automatique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82696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456432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8D75"/>
                </a:solidFill>
                <a:latin typeface="Segoe U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438144"/>
            <a:ext cx="47091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Logs structurés, métriques, traces, alerting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282696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3456432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8D75"/>
                </a:solidFill>
                <a:latin typeface="Segoe UI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39128" y="3438144"/>
            <a:ext cx="47091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Limites CPU/mémoire et rate limiting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23944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297680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8D75"/>
                </a:solidFill>
                <a:latin typeface="Segoe UI"/>
              </a:rPr>
              <a:t>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279392"/>
            <a:ext cx="47091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Sauvegardes de la base et test de restauration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123944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4297680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8D75"/>
                </a:solidFill>
                <a:latin typeface="Segoe UI"/>
              </a:rP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4279392"/>
            <a:ext cx="47091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CI/CD : tests, lint, build, déploiement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965192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138928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8D75"/>
                </a:solidFill>
                <a:latin typeface="Segoe UI"/>
              </a:rPr>
              <a:t>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120640"/>
            <a:ext cx="47091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Documentation OpenAPI versionnée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965192"/>
            <a:ext cx="5440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5138928"/>
            <a:ext cx="36576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38D75"/>
                </a:solidFill>
                <a:latin typeface="Segoe UI"/>
              </a:rP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9128" y="5120640"/>
            <a:ext cx="47091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Plan de rollback et migrations de schéma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78992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67E22"/>
                </a:solidFill>
                <a:latin typeface="Segoe UI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B3D6B"/>
                </a:solidFill>
                <a:latin typeface="Segoe UI"/>
              </a:rPr>
              <a:t>Conclusion : les dix incontournables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600200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64207"/>
            <a:ext cx="347472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627631"/>
            <a:ext cx="498348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API = contrat d'interopérabilité, pas du code</a:t>
            </a:r>
          </a:p>
        </p:txBody>
      </p:sp>
      <p:sp>
        <p:nvSpPr>
          <p:cNvPr id="8" name="Oval 7"/>
          <p:cNvSpPr/>
          <p:nvPr/>
        </p:nvSpPr>
        <p:spPr>
          <a:xfrm>
            <a:off x="6172200" y="1600200"/>
            <a:ext cx="347472" cy="347472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664207"/>
            <a:ext cx="347472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7688" y="1627631"/>
            <a:ext cx="498348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REST = ressources + HTTP + sans état + cache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404872"/>
            <a:ext cx="347472" cy="347472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68879"/>
            <a:ext cx="347472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432303"/>
            <a:ext cx="498348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Choisir le style selon le besoin réel</a:t>
            </a:r>
          </a:p>
        </p:txBody>
      </p:sp>
      <p:sp>
        <p:nvSpPr>
          <p:cNvPr id="14" name="Oval 13"/>
          <p:cNvSpPr/>
          <p:nvPr/>
        </p:nvSpPr>
        <p:spPr>
          <a:xfrm>
            <a:off x="6172200" y="2404872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468879"/>
            <a:ext cx="347472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2432303"/>
            <a:ext cx="498348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L'architecture suit l'organisation et l'échelle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209544"/>
            <a:ext cx="347472" cy="347472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73552"/>
            <a:ext cx="347472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236976"/>
            <a:ext cx="498348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HTTP fournit méthodes, codes, en-têtes et cache</a:t>
            </a:r>
          </a:p>
        </p:txBody>
      </p:sp>
      <p:sp>
        <p:nvSpPr>
          <p:cNvPr id="20" name="Oval 19"/>
          <p:cNvSpPr/>
          <p:nvPr/>
        </p:nvSpPr>
        <p:spPr>
          <a:xfrm>
            <a:off x="6172200" y="3209544"/>
            <a:ext cx="347472" cy="347472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3273552"/>
            <a:ext cx="347472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3236976"/>
            <a:ext cx="498348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Erreurs normalisées = intégration moins coûteuse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014215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78224"/>
            <a:ext cx="347472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4041648"/>
            <a:ext cx="498348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OpenAPI + Swagger UI = API découvrable</a:t>
            </a:r>
          </a:p>
        </p:txBody>
      </p:sp>
      <p:sp>
        <p:nvSpPr>
          <p:cNvPr id="26" name="Oval 25"/>
          <p:cNvSpPr/>
          <p:nvPr/>
        </p:nvSpPr>
        <p:spPr>
          <a:xfrm>
            <a:off x="6172200" y="4014215"/>
            <a:ext cx="347472" cy="347472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4078224"/>
            <a:ext cx="347472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4041648"/>
            <a:ext cx="498348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FastAPI = types, validation, docs, performance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4818888"/>
            <a:ext cx="347472" cy="347472"/>
          </a:xfrm>
          <a:prstGeom prst="ellipse">
            <a:avLst/>
          </a:prstGeom>
          <a:solidFill>
            <a:srgbClr val="0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882896"/>
            <a:ext cx="347472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846320"/>
            <a:ext cx="498348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OAuth2/JWT = authentifier, autoriser, expirer</a:t>
            </a:r>
          </a:p>
        </p:txBody>
      </p:sp>
      <p:sp>
        <p:nvSpPr>
          <p:cNvPr id="32" name="Oval 31"/>
          <p:cNvSpPr/>
          <p:nvPr/>
        </p:nvSpPr>
        <p:spPr>
          <a:xfrm>
            <a:off x="6172200" y="4818888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4882896"/>
            <a:ext cx="347472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7688" y="4846320"/>
            <a:ext cx="498348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F2933"/>
                </a:solidFill>
                <a:latin typeface="Segoe UI"/>
              </a:rPr>
              <a:t>Docker + PaaS open source = déploiement reproductible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473952"/>
            <a:ext cx="11094415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8686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Introduction aux API &amp; architecture REST avec FastAPI  ·  Groupe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45775" y="6510528"/>
            <a:ext cx="10972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7B"/>
                </a:solidFill>
                <a:latin typeface="Segoe U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4095" y="-1828800"/>
            <a:ext cx="5943600" cy="5943600"/>
          </a:xfrm>
          <a:prstGeom prst="ellipse">
            <a:avLst/>
          </a:prstGeom>
          <a:solidFill>
            <a:srgbClr val="0E4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685800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MERCI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103120"/>
            <a:ext cx="1463040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640080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D7E8F7"/>
                </a:solidFill>
                <a:latin typeface="Segoe UI"/>
              </a:rPr>
              <a:t>Questions &amp; échanges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5852160" cy="16459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FD9EE"/>
                </a:solidFill>
                <a:latin typeface="Segoe UI"/>
              </a:rPr>
              <a:t>Document de synthèse  ·  Diapositives  ·  4 cheatSheets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FD9EE"/>
                </a:solidFill>
                <a:latin typeface="Segoe UI"/>
              </a:rPr>
              <a:t>Exemple FastAPI + Docker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FD9EE"/>
                </a:solidFill>
                <a:latin typeface="Segoe UI"/>
              </a:rPr>
              <a:t/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FD9EE"/>
                </a:solidFill>
                <a:latin typeface="Segoe UI"/>
              </a:rPr>
              <a:t>Sources : FastAPI, MDN, RFC 9110/9457, OWASP, OpenAPI,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FD9EE"/>
                </a:solidFill>
                <a:latin typeface="Segoe UI"/>
              </a:rPr>
              <a:t>Coolify, Dokku, CapRover.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074920"/>
            <a:ext cx="4480560" cy="685800"/>
          </a:xfrm>
          <a:prstGeom prst="roundRect">
            <a:avLst>
              <a:gd name="adj" fmla="val 6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193792"/>
            <a:ext cx="420624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1205"/>
                </a:solidFill>
                <a:latin typeface="Segoe UI"/>
              </a:rPr>
              <a:t>p1ia_groupe-1_creation-deploiement-api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80760"/>
            <a:ext cx="54864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C2DD"/>
                </a:solidFill>
                <a:latin typeface="Segoe UI"/>
              </a:rPr>
              <a:t>Groupe 1  ·  Octobre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aux API et à l'architecture REST avec FastAPI</dc:title>
  <dc:subject>Veille technologique - Création et déploiement d'API</dc:subject>
  <dc:creator>Groupe 1</dc:creator>
  <cp:keywords>API, REST, HTTP, FastAPI, OpenAPI, OAuth2, JWT, Docker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